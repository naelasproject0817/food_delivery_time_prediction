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72" r:id="rId24"/>
    <p:sldId id="265" r:id="rId16"/>
    <p:sldId id="266" r:id="rId17"/>
    <p:sldId id="267" r:id="rId18"/>
    <p:sldId id="273" r:id="rId25"/>
    <p:sldId id="268" r:id="rId19"/>
    <p:sldId id="269" r:id="rId20"/>
    <p:sldId id="270" r:id="rId21"/>
    <p:sldId id="271" r:id="rId22"/>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h0nCz6Ys97NXAJBKszklxZiOcb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851EFF-ECB7-4A0C-A628-E1CD1D6089D0}">
  <a:tblStyle styleId="{65851EFF-ECB7-4A0C-A628-E1CD1D6089D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customschemas.google.com/relationships/presentationmetadata" Target="metadata"/><Relationship Id="rId24" Type="http://schemas.openxmlformats.org/officeDocument/2006/relationships/slide" Target="slides/slide10.xml"/><Relationship Id="rId25"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Perkenalkan, nama saya Naela Arbach. Hari ini saya mempresentasikan take-home task saya: Food Delivery Time Prediction, yaitu memprediksi waktu pengantaran makanan. Sebelum masuk ke analisis, mari kita mulai dari latar belakang masalahnya.</a:t>
            </a: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Masalahnya, estimasi waktu pengantaran yang hanya memakai rata-rata kurang akurat. Rata-rata meleset sekitar 17,5 menit per pesanan, kadang lebih cepat, kadang lebih lambat, dan ini memengaruhi kepuasan pelanggan. Penyebabnya: jarak dan waktu persiapan membentuk keterlambatan dasar, ditambah cuaca. Lalu lintas menambah hambatan: saat traffic padat, median waktu antar sekitar 65 menit, dibanding 51 menit saat lancar. Solusinya adalah model regresi yang menurunkan error dari 17,5 menjadi 6,05 menit sekaligus menunjukkan faktor yang paling berpengaruh. Untuk itu, kita mulai dari datanya.</a:t>
            </a: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Data terdiri dari 1.000 pesanan dengan 9 kolom. Targetnya waktu pengantaran dalam menit, dan fiturnya jarak, cuaca, traffic, waktu dalam sehari, jenis kendaraan, waktu persiapan, dan pengalaman kurir. Order_ID dibuang karena hanya penanda. Empat kolom memiliki 30 missing value masing-masing. Data dibagi 80/20: 800 pesanan untuk training dan 200 untuk testing. Sekarang, seperti apa waktu pengantarannya?</a:t>
            </a:r>
          </a:p>
        </p:txBody>
      </p:sp>
      <p:sp>
        <p:nvSpPr>
          <p:cNvPr id="159" name="Google Shape;15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Rata-rata waktu pengantaran sekitar 57 menit, dengan median 55,5. Sebarannya cukup lebar, standar deviasi 22,1 menit, dan yang terlama mencapai 153 menit. Artinya ada pesanan yang jauh lebih lama dari biasanya. Apa yang menyebabkan variasi ini?</a:t>
            </a:r>
          </a:p>
        </p:txBody>
      </p:sp>
      <p:sp>
        <p:nvSpPr>
          <p:cNvPr id="194" name="Google Shape;19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Faktor terkuat adalah jarak, dengan korelasi 0,78, disusul waktu persiapan 0,31. Pengalaman kurir hanya -0,09, jadi pengaruhnya kecil. Kondisi lapangan juga berperan: cuaca bersalju dan traffic padat punya median tertinggi, 66 dan 65 menit, dibanding 52 dan 51 menit saat cerah dan lancar. Jenis kendaraan dan waktu dalam sehari hampir tidak berpengaruh. Setelah mengenal faktornya, data perlu disiapkan.</a:t>
            </a:r>
          </a:p>
        </p:txBody>
      </p:sp>
      <p:sp>
        <p:nvSpPr>
          <p:cNvPr id="224" name="Google Shape;2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Prinsipnya: split dulu, bersihkan kemudian. Pertama, data dibagi 80/20 sebelum pembersihan, supaya data uji benar-benar belum pernah dilihat model. Kedua, missing value diisi memakai statistik data training saja: modus untuk kategori, median untuk pengalaman kurir. Ketiga, outlier dicek dengan metode IQR dan tidak ditemukan, jadi tidak perlu capping. Data yang bersih siap kita perkaya.</a:t>
            </a:r>
          </a:p>
        </p:txBody>
      </p:sp>
      <p:sp>
        <p:nvSpPr>
          <p:cNvPr id="249" name="Google Shape;2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Kita mempertahankan 3 kolom angka: jarak, waktu persiapan, dan pengalaman kurir. Lalu dibuat 4 fitur turunan: skala traffic, jarak dikali traffic, jarak per pengalaman kurir, dan penanda cuaca buruk. Perlu dicatat, skala traffic menggantikan kolom traffic awal, bukan tambahan. One-hot encoding mengubah tiga kolom kategori menjadi 9 kolom. Jadi totalnya 3 ditambah 4 ditambah 9, yaitu 16 fitur. Sekarang kita pilih modelnya.</a:t>
            </a:r>
          </a:p>
        </p:txBody>
      </p:sp>
      <p:sp>
        <p:nvSpPr>
          <p:cNvPr id="285" name="Google Shape;2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Saya membandingkan empat model: Baseline yang hanya menebak rata-rata sebagai patokan, lalu Linear Regression, Random Forest, dan XGBoost. Semuanya diuji pada 200 pesanan yang belum pernah dilihat, lalu dicek ulang dengan cross-validation 5-fold. Siapa yang menang?</a:t>
            </a:r>
          </a:p>
        </p:txBody>
      </p:sp>
      <p:sp>
        <p:nvSpPr>
          <p:cNvPr id="304" name="Google Shape;3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Linear Regression menang. MAE-nya 6,05 menit, RMSE 8,94, dan R kuadrat 0,822, artinya model menjelaskan sekitar 82 persen variasi waktu pengantaran. Ini jauh lebih baik dari baseline yang errornya 17,5 menit, dan sedikit lebih baik dari XGBoost dan Random Forest. Model paling sederhana yang menang, menandakan hubungannya sebagian besar linear. Tapi apakah ini bukan kebetulan dari satu kali pembagian data?</a:t>
            </a:r>
          </a:p>
        </p:txBody>
      </p:sp>
      <p:sp>
        <p:nvSpPr>
          <p:cNvPr id="345" name="Google Shape;34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Ini koefisien Linear Regression, dalam menit per kenaikan satu standar deviasi. Jarak paling berpengaruh: plus 17,6 menit per sekitar 5,7 kilometer, atau kira-kira 3 menit per kilometer. Waktu persiapan menambah 7,0 menit dan traffic 4,3 menit. Cuaca salju menambah 2,8 menit dan hujan 1,9 menit. Pengalaman kurir negatif, minus 2,2: makin berpengalaman, makin cepat. Cerita ini sejalan dengan data. Lalu, seberapa dekat prediksinya dengan kenyataan? (Jika ditanya: kolom Bad_Weather tidak dipakai di grafik ini karena redundan, sama dengan Foggy + Rainy + Snowy; prediksi model tidak berubah.)</a:t>
            </a:r>
          </a:p>
        </p:txBody>
      </p:sp>
      <p:sp>
        <p:nvSpPr>
          <p:cNvPr id="357" name="Google Shape;3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Pada grafik ini, sebagian besar titik berada dekat garis merah, artinya prediksi mengikuti waktu asli. Error khasnya sekitar 6 menit, dengan MAE 6,05 dan RMSE 8,94. Ada satu catatan: dari 200 pesanan uji, 5 pesanan diprediksi terlalu rendah lebih dari 20 menit. Jaraknya biasa saja; yang menonjol, 4 dari 5 terjadi saat cuaca buruk dan traffic cenderung padat. Dugaannya, model linear menjumlahkan efek tiap faktor, padahal macet dan cuaca buruk bersamaan bisa saling memperparah. Karena hanya 5 pesanan, ini baru petunjuk awal. Mari kita lihat contoh prediksinya.</a:t>
            </a:r>
          </a:p>
        </p:txBody>
      </p:sp>
      <p:sp>
        <p:nvSpPr>
          <p:cNvPr id="378" name="Google Shape;37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Ini tiga pesanan baru. Pesanan pertama, 5 kilometer, cuaca cerah, traffic lancar, diprediksi 28,9 menit. Pesanan kedua, 12,5 kilometer, hujan, traffic padat, naik menjadi 78,2 menit. Pesanan ketiga, 20 kilometer, berkabut, malam hari, diprediksi 98 menit, yang tertinggi. Makin jauh jarak dan makin berat kondisinya, makin lama prediksinya. Tapi prediksi tidak pernah pasti, jadi bagaimana janji ke pelanggan?</a:t>
            </a:r>
          </a:p>
        </p:txBody>
      </p:sp>
      <p:sp>
        <p:nvSpPr>
          <p:cNvPr id="409" name="Google Shape;40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Sebagai penutup, ada tiga insight. Pertama, jarak paling berpengaruh: korelasi 0,78 dan sekitar 3 menit tambahan per kilometer. Kedua, model sederhana sudah cukup: Linear Regression terbaik, juga di cross-validation. Ketiga, traffic padat dan cuaca bersalju menambah keterlambatan. Dari situ ada tiga rekomendasi. Pertama, gunakan model ini menggantikan estimasi berbasis rata-rata, sehingga error turun dari 17,5 menjadi sekitar 6 sampai 7 menit. Kedua, tambahkan buffer 9 menit, atau 15 menit saat traffic padat bertemu cuaca buruk. Ketiga, terus tingkatkan model dengan data lebih banyak, tuning, dan menguji efek gabungan traffic dan cuaca. Intinya, kita tidak mempercepat pengiriman; kita membuat janji waktunya lebih akurat.</a:t>
            </a:r>
          </a:p>
        </p:txBody>
      </p:sp>
      <p:sp>
        <p:nvSpPr>
          <p:cNvPr id="423" name="Google Shape;4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h44409769444234e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h44409769444234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Seluruh hasil ini juga saya rangkum dalam dashboard Power BI. Di bagian atas ada ringkasan: 1.000 pesanan, rata-rata waktu 57 menit, MAE terbaik 6,05, dan RMSE 8,94. Lalu ada rata-rata waktu per cuaca dan per tingkat traffic, sebaran pesanan menurut waktu dalam sehari, matriks korelasi, dan faktor-faktor pendorong. Filter waktu, cuaca, dan kendaraan membuat dashboard ini bisa dieksplor. (Catatan: dashboard menampilkan rata-rata, sedangkan slide memakai median.)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46e8777ff8f3b33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Kode lengkap dan dokumentasi tersedia di GitHub dan Google Colab, sehingga seluruh analisis bisa direproduksi.</a:t>
            </a:r>
          </a:p>
        </p:txBody>
      </p:sp>
      <p:sp>
        <p:nvSpPr>
          <p:cNvPr id="479" name="Google Shape;479;h46e8777ff8f3b33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h46e8777ff8f3b337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h46e8777ff8f3b33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Terima kasih. Saya siap menjawab pertanyaan.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Untuk memastikannya, tiga model diuji ulang dengan cross-validation 5-fold: 1.000 pesanan dibagi lima bagian, tiap bagian bergiliran menjadi data uji, lalu skornya dirata-rata. Linear Regression tetap terbaik, dengan MAE 6,68 menit dan R kuadrat 0,762, di depan XGBoost 7,26 dan Random Forest 7,51. Urutannya sama, jadi hasilnya bukan kebetulan. Skornya sedikit lebih rendah, sehingga di data baru wajar mengharapkan error sekitar 6 sampai 7 menit. Lalu, apa yang dipakai model?</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Karena model tidak selalu tepat, janji ke pelanggan kita buat dari prediksi ditambah buffer. Buffer dihitung dari error nyata pada 1.000 pesanan lewat cross-validation: ambil persentil ke-90 dari keterlambatan, sehingga sekitar 9 dari 10 pesanan tidak lebih lambat dari janji. Hasilnya 8,7 menit untuk pesanan biasa dan 14,5 menit saat traffic padat dan cuaca buruk bersamaan. Jadi janji untuk tiga pesanan tadi: 37,6, 92,7, dan 106,7 menit. Sebagai pembanding, interval prediksi 90 persen dari rumus statistik lebih lebar, sekitar plus minus 18 menit, karena mengasumsikan error sama besar untuk semua pesanan. Kenapa tidak cukup menambah 6 menit saja? Karena 6,05 adalah rata-rata selisih dua arah: dengan buffer 6 menit baru 82,6 persen pesanan tidak telat, sedangkan dengan 8,9 menit mencapai 90 persen.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12.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1.jpg"/><Relationship Id="rId4"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14.png"/><Relationship Id="rId7" Type="http://schemas.openxmlformats.org/officeDocument/2006/relationships/image" Target="../media/image11.png"/><Relationship Id="rId8" Type="http://schemas.openxmlformats.org/officeDocument/2006/relationships/image" Target="../media/image8.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hyperlink" Target="https://github.com/naelasproject0817/Food_Delivery_Time_Prediction" TargetMode="External"/><Relationship Id="rId6" Type="http://schemas.openxmlformats.org/officeDocument/2006/relationships/hyperlink" Target="https://github.com/naelasproject0817/Food_Delivery_Time_Prediction/tree/main" TargetMode="External"/><Relationship Id="rId7" Type="http://schemas.openxmlformats.org/officeDocument/2006/relationships/hyperlink" Target="https://colab.research.google.com/drive/11KMP2PXVoB_EMlnDMglH_gClOIOEjHbR#scrollTo=OLRssOKx19I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5" name="Google Shape;85;p1"/>
          <p:cNvGrpSpPr/>
          <p:nvPr/>
        </p:nvGrpSpPr>
        <p:grpSpPr>
          <a:xfrm>
            <a:off x="1028700" y="-1487284"/>
            <a:ext cx="10428171" cy="8985364"/>
            <a:chOff x="0" y="-2524125"/>
            <a:chExt cx="13904228" cy="11980485"/>
          </a:xfrm>
        </p:grpSpPr>
        <p:sp>
          <p:nvSpPr>
            <p:cNvPr id="86" name="Google Shape;86;p1"/>
            <p:cNvSpPr/>
            <p:nvPr/>
          </p:nvSpPr>
          <p:spPr>
            <a:xfrm>
              <a:off x="0" y="0"/>
              <a:ext cx="13898880" cy="9456360"/>
            </a:xfrm>
            <a:custGeom>
              <a:rect b="b" l="l" r="r" t="t"/>
              <a:pathLst>
                <a:path extrusionOk="0" h="9456360" w="13898880">
                  <a:moveTo>
                    <a:pt x="0" y="0"/>
                  </a:moveTo>
                  <a:lnTo>
                    <a:pt x="13898880" y="0"/>
                  </a:lnTo>
                  <a:lnTo>
                    <a:pt x="13898880" y="9456360"/>
                  </a:lnTo>
                  <a:lnTo>
                    <a:pt x="0" y="9456360"/>
                  </a:lnTo>
                  <a:close/>
                </a:path>
              </a:pathLst>
            </a:custGeom>
            <a:blipFill rotWithShape="1">
              <a:blip r:embed="rId3">
                <a:alphaModFix amt="0"/>
              </a:blip>
              <a:stretch>
                <a:fillRect b="49443" l="0" r="0" t="-6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1"/>
            <p:cNvSpPr txBox="1"/>
            <p:nvPr/>
          </p:nvSpPr>
          <p:spPr>
            <a:xfrm>
              <a:off x="5348" y="-2524125"/>
              <a:ext cx="13898880" cy="9465885"/>
            </a:xfrm>
            <a:prstGeom prst="rect">
              <a:avLst/>
            </a:prstGeom>
            <a:noFill/>
            <a:ln>
              <a:noFill/>
            </a:ln>
          </p:spPr>
          <p:txBody>
            <a:bodyPr anchorCtr="0" anchor="b" bIns="0" lIns="0" spcFirstLastPara="1" rIns="0" wrap="square" tIns="0">
              <a:noAutofit/>
            </a:bodyPr>
            <a:lstStyle/>
            <a:p>
              <a:pPr indent="0" lvl="0" marL="0" marR="0" rtl="0" algn="l">
                <a:lnSpc>
                  <a:spcPct val="120000"/>
                </a:lnSpc>
                <a:spcBef>
                  <a:spcPts val="0"/>
                </a:spcBef>
                <a:spcAft>
                  <a:spcPts val="0"/>
                </a:spcAft>
                <a:buNone/>
              </a:pPr>
              <a:r>
                <a:rPr b="1" lang="en-US" sz="8000">
                  <a:solidFill>
                    <a:srgbClr val="FFFFFF"/>
                  </a:solidFill>
                  <a:latin typeface="Cambria"/>
                  <a:ea typeface="Cambria"/>
                  <a:cs typeface="Cambria"/>
                  <a:sym typeface="Cambria"/>
                </a:rPr>
                <a:t>Food Delivery Time Prediction</a:t>
              </a:r>
              <a:endParaRPr/>
            </a:p>
          </p:txBody>
        </p:sp>
      </p:grpSp>
      <p:sp>
        <p:nvSpPr>
          <p:cNvPr id="88" name="Google Shape;88;p1"/>
          <p:cNvSpPr txBox="1"/>
          <p:nvPr/>
        </p:nvSpPr>
        <p:spPr>
          <a:xfrm>
            <a:off x="1097280" y="5795010"/>
            <a:ext cx="9509760" cy="18859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F3F4F6"/>
                </a:solidFill>
                <a:latin typeface="Calibri"/>
                <a:ea typeface="Calibri"/>
                <a:cs typeface="Calibri"/>
                <a:sym typeface="Calibri"/>
              </a:rPr>
              <a:t>From exploratory analysis to model evaluation: predicting delivery duration in minutes</a:t>
            </a:r>
            <a:endParaRPr/>
          </a:p>
        </p:txBody>
      </p:sp>
      <p:sp>
        <p:nvSpPr>
          <p:cNvPr id="89" name="Google Shape;89;p1"/>
          <p:cNvSpPr/>
          <p:nvPr/>
        </p:nvSpPr>
        <p:spPr>
          <a:xfrm>
            <a:off x="12252960" y="2194560"/>
            <a:ext cx="5303520" cy="5303520"/>
          </a:xfrm>
          <a:custGeom>
            <a:rect b="b" l="l" r="r" t="t"/>
            <a:pathLst>
              <a:path extrusionOk="0" h="7071360" w="7071360">
                <a:moveTo>
                  <a:pt x="0" y="3535680"/>
                </a:moveTo>
                <a:cubicBezTo>
                  <a:pt x="0" y="1582928"/>
                  <a:pt x="1582928" y="0"/>
                  <a:pt x="3535680" y="0"/>
                </a:cubicBezTo>
                <a:cubicBezTo>
                  <a:pt x="5488432" y="0"/>
                  <a:pt x="7071360" y="1582928"/>
                  <a:pt x="7071360" y="3535680"/>
                </a:cubicBezTo>
                <a:cubicBezTo>
                  <a:pt x="7071360" y="5488432"/>
                  <a:pt x="5488432" y="7071360"/>
                  <a:pt x="3535680" y="7071360"/>
                </a:cubicBezTo>
                <a:cubicBezTo>
                  <a:pt x="1582928" y="7071360"/>
                  <a:pt x="0" y="5488432"/>
                  <a:pt x="0" y="353568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livery motorbike icon" id="90" name="Google Shape;90;p1"/>
          <p:cNvSpPr/>
          <p:nvPr/>
        </p:nvSpPr>
        <p:spPr>
          <a:xfrm>
            <a:off x="13533120" y="3474720"/>
            <a:ext cx="2743200" cy="2743200"/>
          </a:xfrm>
          <a:custGeom>
            <a:rect b="b" l="l" r="r" t="t"/>
            <a:pathLst>
              <a:path extrusionOk="0" h="3657600" w="3657600">
                <a:moveTo>
                  <a:pt x="0" y="0"/>
                </a:moveTo>
                <a:lnTo>
                  <a:pt x="3657600" y="0"/>
                </a:lnTo>
                <a:lnTo>
                  <a:pt x="3657600" y="3657600"/>
                </a:lnTo>
                <a:lnTo>
                  <a:pt x="0" y="3657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pSp>
        <p:nvGrpSpPr>
          <p:cNvPr id="95" name="Google Shape;95;p2"/>
          <p:cNvGrpSpPr/>
          <p:nvPr/>
        </p:nvGrpSpPr>
        <p:grpSpPr>
          <a:xfrm>
            <a:off x="914400" y="541496"/>
            <a:ext cx="16459200" cy="1287304"/>
            <a:chOff x="0" y="-9525"/>
            <a:chExt cx="21945600" cy="1716405"/>
          </a:xfrm>
        </p:grpSpPr>
        <p:sp>
          <p:nvSpPr>
            <p:cNvPr id="96" name="Google Shape;96;p2"/>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2"/>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Problem Statement</a:t>
              </a:r>
              <a:endParaRPr/>
            </a:p>
          </p:txBody>
        </p:sp>
      </p:grpSp>
      <p:grpSp>
        <p:nvGrpSpPr>
          <p:cNvPr id="98" name="Google Shape;98;p2"/>
          <p:cNvGrpSpPr/>
          <p:nvPr/>
        </p:nvGrpSpPr>
        <p:grpSpPr>
          <a:xfrm>
            <a:off x="882619" y="2116916"/>
            <a:ext cx="16510005" cy="7169959"/>
            <a:chOff x="36" y="-66675"/>
            <a:chExt cx="22013340" cy="9559946"/>
          </a:xfrm>
        </p:grpSpPr>
        <p:cxnSp>
          <p:nvCxnSpPr>
            <p:cNvPr id="99" name="Google Shape;99;p2"/>
            <p:cNvCxnSpPr/>
            <p:nvPr/>
          </p:nvCxnSpPr>
          <p:spPr>
            <a:xfrm>
              <a:off x="36" y="4592636"/>
              <a:ext cx="22013340" cy="61932"/>
            </a:xfrm>
            <a:prstGeom prst="straightConnector1">
              <a:avLst/>
            </a:prstGeom>
            <a:noFill/>
            <a:ln cap="rnd" cmpd="sng" w="25400">
              <a:solidFill>
                <a:srgbClr val="1F2430"/>
              </a:solidFill>
              <a:prstDash val="solid"/>
              <a:round/>
              <a:headEnd len="sm" w="sm" type="none"/>
              <a:tailEnd len="sm" w="sm" type="none"/>
            </a:ln>
          </p:spPr>
        </p:cxnSp>
        <p:sp>
          <p:nvSpPr>
            <p:cNvPr id="100" name="Google Shape;100;p2"/>
            <p:cNvSpPr/>
            <p:nvPr/>
          </p:nvSpPr>
          <p:spPr>
            <a:xfrm>
              <a:off x="5322186" y="0"/>
              <a:ext cx="6583680" cy="2121623"/>
            </a:xfrm>
            <a:custGeom>
              <a:rect b="b" l="l" r="r" t="t"/>
              <a:pathLst>
                <a:path extrusionOk="0" h="2121623" w="6583680">
                  <a:moveTo>
                    <a:pt x="0" y="223329"/>
                  </a:moveTo>
                  <a:cubicBezTo>
                    <a:pt x="0" y="100033"/>
                    <a:pt x="109220" y="0"/>
                    <a:pt x="243840" y="0"/>
                  </a:cubicBezTo>
                  <a:lnTo>
                    <a:pt x="6339840" y="0"/>
                  </a:lnTo>
                  <a:cubicBezTo>
                    <a:pt x="6474460" y="0"/>
                    <a:pt x="6583680" y="100033"/>
                    <a:pt x="6583680" y="223329"/>
                  </a:cubicBezTo>
                  <a:lnTo>
                    <a:pt x="6583680" y="1898294"/>
                  </a:lnTo>
                  <a:cubicBezTo>
                    <a:pt x="6583680" y="2021590"/>
                    <a:pt x="6474460" y="2121623"/>
                    <a:pt x="6339840" y="2121623"/>
                  </a:cubicBezTo>
                  <a:lnTo>
                    <a:pt x="243840" y="2121623"/>
                  </a:lnTo>
                  <a:cubicBezTo>
                    <a:pt x="109220" y="2121623"/>
                    <a:pt x="0" y="2021590"/>
                    <a:pt x="0" y="1898294"/>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 name="Google Shape;101;p2"/>
            <p:cNvGrpSpPr/>
            <p:nvPr/>
          </p:nvGrpSpPr>
          <p:grpSpPr>
            <a:xfrm>
              <a:off x="5566026" y="-66675"/>
              <a:ext cx="6096000" cy="2188298"/>
              <a:chOff x="0" y="-66675"/>
              <a:chExt cx="6096000" cy="2188298"/>
            </a:xfrm>
          </p:grpSpPr>
          <p:sp>
            <p:nvSpPr>
              <p:cNvPr id="102" name="Google Shape;102;p2"/>
              <p:cNvSpPr/>
              <p:nvPr/>
            </p:nvSpPr>
            <p:spPr>
              <a:xfrm>
                <a:off x="0" y="0"/>
                <a:ext cx="6096000" cy="2121623"/>
              </a:xfrm>
              <a:custGeom>
                <a:rect b="b" l="l" r="r" t="t"/>
                <a:pathLst>
                  <a:path extrusionOk="0" h="2121623" w="6096000">
                    <a:moveTo>
                      <a:pt x="0" y="0"/>
                    </a:moveTo>
                    <a:lnTo>
                      <a:pt x="6096000" y="0"/>
                    </a:lnTo>
                    <a:lnTo>
                      <a:pt x="6096000" y="2121623"/>
                    </a:lnTo>
                    <a:lnTo>
                      <a:pt x="0" y="2121623"/>
                    </a:lnTo>
                    <a:close/>
                  </a:path>
                </a:pathLst>
              </a:custGeom>
              <a:blipFill rotWithShape="1">
                <a:blip r:embed="rId3">
                  <a:alphaModFix amt="0"/>
                </a:blip>
                <a:stretch>
                  <a:fillRect b="-10578" l="0" r="0" t="-139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0" y="-66675"/>
                <a:ext cx="6096000" cy="2188298"/>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lang="en-US" sz="2799">
                    <a:solidFill>
                      <a:srgbClr val="1F2430"/>
                    </a:solidFill>
                    <a:latin typeface="Calibri"/>
                    <a:ea typeface="Calibri"/>
                    <a:cs typeface="Calibri"/>
                    <a:sym typeface="Calibri"/>
                  </a:rPr>
                  <a:t>Distance (r = 0.78) and prep time (r = 0.31) drive baseline delays, plus weather.</a:t>
                </a:r>
                <a:endParaRPr/>
              </a:p>
            </p:txBody>
          </p:sp>
        </p:grpSp>
        <p:sp>
          <p:nvSpPr>
            <p:cNvPr id="104" name="Google Shape;104;p2"/>
            <p:cNvSpPr/>
            <p:nvPr/>
          </p:nvSpPr>
          <p:spPr>
            <a:xfrm>
              <a:off x="8065386" y="2612946"/>
              <a:ext cx="1097280" cy="1004979"/>
            </a:xfrm>
            <a:custGeom>
              <a:rect b="b" l="l" r="r" t="t"/>
              <a:pathLst>
                <a:path extrusionOk="0" h="1004979" w="1097280">
                  <a:moveTo>
                    <a:pt x="0" y="502490"/>
                  </a:moveTo>
                  <a:cubicBezTo>
                    <a:pt x="0" y="224957"/>
                    <a:pt x="245618" y="0"/>
                    <a:pt x="548640" y="0"/>
                  </a:cubicBezTo>
                  <a:cubicBezTo>
                    <a:pt x="851662" y="0"/>
                    <a:pt x="1097280" y="224957"/>
                    <a:pt x="1097280" y="502490"/>
                  </a:cubicBezTo>
                  <a:cubicBezTo>
                    <a:pt x="1097280" y="780022"/>
                    <a:pt x="851662" y="1004979"/>
                    <a:pt x="548640" y="1004979"/>
                  </a:cubicBezTo>
                  <a:cubicBezTo>
                    <a:pt x="245618" y="1004979"/>
                    <a:pt x="0" y="780022"/>
                    <a:pt x="0" y="50249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5" name="Google Shape;105;p2"/>
            <p:cNvGrpSpPr/>
            <p:nvPr/>
          </p:nvGrpSpPr>
          <p:grpSpPr>
            <a:xfrm>
              <a:off x="8065386" y="2546271"/>
              <a:ext cx="1097280" cy="1071654"/>
              <a:chOff x="0" y="-66675"/>
              <a:chExt cx="1097280" cy="1071654"/>
            </a:xfrm>
          </p:grpSpPr>
          <p:sp>
            <p:nvSpPr>
              <p:cNvPr id="106" name="Google Shape;106;p2"/>
              <p:cNvSpPr/>
              <p:nvPr/>
            </p:nvSpPr>
            <p:spPr>
              <a:xfrm>
                <a:off x="0" y="0"/>
                <a:ext cx="1097280" cy="1004979"/>
              </a:xfrm>
              <a:custGeom>
                <a:rect b="b" l="l" r="r" t="t"/>
                <a:pathLst>
                  <a:path extrusionOk="0" h="1004979" w="1097280">
                    <a:moveTo>
                      <a:pt x="0" y="0"/>
                    </a:moveTo>
                    <a:lnTo>
                      <a:pt x="1097280" y="0"/>
                    </a:lnTo>
                    <a:lnTo>
                      <a:pt x="1097280" y="1004979"/>
                    </a:lnTo>
                    <a:lnTo>
                      <a:pt x="0" y="1004979"/>
                    </a:lnTo>
                    <a:close/>
                  </a:path>
                </a:pathLst>
              </a:custGeom>
              <a:blipFill rotWithShape="1">
                <a:blip r:embed="rId3">
                  <a:alphaModFix amt="0"/>
                </a:blip>
                <a:stretch>
                  <a:fillRect b="-9183"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2"/>
              <p:cNvSpPr txBox="1"/>
              <p:nvPr/>
            </p:nvSpPr>
            <p:spPr>
              <a:xfrm>
                <a:off x="0" y="-66675"/>
                <a:ext cx="1097280" cy="1071654"/>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b="1" lang="en-US" sz="2799">
                    <a:solidFill>
                      <a:srgbClr val="FFFFFF"/>
                    </a:solidFill>
                    <a:latin typeface="Calibri"/>
                    <a:ea typeface="Calibri"/>
                    <a:cs typeface="Calibri"/>
                    <a:sym typeface="Calibri"/>
                  </a:rPr>
                  <a:t>2</a:t>
                </a:r>
                <a:endParaRPr/>
              </a:p>
            </p:txBody>
          </p:sp>
        </p:grpSp>
        <p:grpSp>
          <p:nvGrpSpPr>
            <p:cNvPr id="108" name="Google Shape;108;p2"/>
            <p:cNvGrpSpPr/>
            <p:nvPr/>
          </p:nvGrpSpPr>
          <p:grpSpPr>
            <a:xfrm>
              <a:off x="6681086" y="3906320"/>
              <a:ext cx="3901440" cy="678458"/>
              <a:chOff x="0" y="-38100"/>
              <a:chExt cx="3901440" cy="678458"/>
            </a:xfrm>
          </p:grpSpPr>
          <p:sp>
            <p:nvSpPr>
              <p:cNvPr id="109" name="Google Shape;109;p2"/>
              <p:cNvSpPr/>
              <p:nvPr/>
            </p:nvSpPr>
            <p:spPr>
              <a:xfrm>
                <a:off x="0" y="0"/>
                <a:ext cx="3901440" cy="640358"/>
              </a:xfrm>
              <a:custGeom>
                <a:rect b="b" l="l" r="r" t="t"/>
                <a:pathLst>
                  <a:path extrusionOk="0" h="640358" w="3901440">
                    <a:moveTo>
                      <a:pt x="0" y="0"/>
                    </a:moveTo>
                    <a:lnTo>
                      <a:pt x="3901440" y="0"/>
                    </a:lnTo>
                    <a:lnTo>
                      <a:pt x="3901440" y="640358"/>
                    </a:lnTo>
                    <a:lnTo>
                      <a:pt x="0" y="640358"/>
                    </a:lnTo>
                    <a:close/>
                  </a:path>
                </a:pathLst>
              </a:custGeom>
              <a:blipFill rotWithShape="1">
                <a:blip r:embed="rId3">
                  <a:alphaModFix amt="0"/>
                </a:blip>
                <a:stretch>
                  <a:fillRect b="-72024" l="0" r="0" t="-6540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txBox="1"/>
              <p:nvPr/>
            </p:nvSpPr>
            <p:spPr>
              <a:xfrm>
                <a:off x="0" y="-38100"/>
                <a:ext cx="390144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b="1" lang="en-US" sz="2400">
                    <a:solidFill>
                      <a:srgbClr val="1F2430"/>
                    </a:solidFill>
                    <a:latin typeface="Calibri"/>
                    <a:ea typeface="Calibri"/>
                    <a:cs typeface="Calibri"/>
                    <a:sym typeface="Calibri"/>
                  </a:rPr>
                  <a:t>Core Variables</a:t>
                </a:r>
                <a:endParaRPr/>
              </a:p>
            </p:txBody>
          </p:sp>
        </p:grpSp>
        <p:grpSp>
          <p:nvGrpSpPr>
            <p:cNvPr id="111" name="Google Shape;111;p2"/>
            <p:cNvGrpSpPr/>
            <p:nvPr/>
          </p:nvGrpSpPr>
          <p:grpSpPr>
            <a:xfrm>
              <a:off x="8126346" y="1934488"/>
              <a:ext cx="975360" cy="678458"/>
              <a:chOff x="0" y="-38100"/>
              <a:chExt cx="975360" cy="678458"/>
            </a:xfrm>
          </p:grpSpPr>
          <p:sp>
            <p:nvSpPr>
              <p:cNvPr id="112" name="Google Shape;112;p2"/>
              <p:cNvSpPr/>
              <p:nvPr/>
            </p:nvSpPr>
            <p:spPr>
              <a:xfrm>
                <a:off x="0" y="0"/>
                <a:ext cx="975360" cy="640358"/>
              </a:xfrm>
              <a:custGeom>
                <a:rect b="b" l="l" r="r" t="t"/>
                <a:pathLst>
                  <a:path extrusionOk="0" h="640358" w="975360">
                    <a:moveTo>
                      <a:pt x="0" y="0"/>
                    </a:moveTo>
                    <a:lnTo>
                      <a:pt x="975360" y="0"/>
                    </a:lnTo>
                    <a:lnTo>
                      <a:pt x="975360" y="640358"/>
                    </a:lnTo>
                    <a:lnTo>
                      <a:pt x="0" y="640358"/>
                    </a:lnTo>
                    <a:close/>
                  </a:path>
                </a:pathLst>
              </a:custGeom>
              <a:blipFill rotWithShape="1">
                <a:blip r:embed="rId3">
                  <a:alphaModFix amt="0"/>
                </a:blip>
                <a:stretch>
                  <a:fillRect b="16226" l="-20566" r="-205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2"/>
              <p:cNvSpPr txBox="1"/>
              <p:nvPr/>
            </p:nvSpPr>
            <p:spPr>
              <a:xfrm>
                <a:off x="0" y="-38100"/>
                <a:ext cx="97536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lang="en-US" sz="2400">
                    <a:solidFill>
                      <a:srgbClr val="6B7280"/>
                    </a:solidFill>
                    <a:latin typeface="Calibri"/>
                    <a:ea typeface="Calibri"/>
                    <a:cs typeface="Calibri"/>
                    <a:sym typeface="Calibri"/>
                  </a:rPr>
                  <a:t>↑</a:t>
                </a:r>
                <a:endParaRPr/>
              </a:p>
            </p:txBody>
          </p:sp>
        </p:grpSp>
        <p:sp>
          <p:nvSpPr>
            <p:cNvPr id="114" name="Google Shape;114;p2"/>
            <p:cNvSpPr/>
            <p:nvPr/>
          </p:nvSpPr>
          <p:spPr>
            <a:xfrm>
              <a:off x="11320439" y="7136050"/>
              <a:ext cx="6583680" cy="2121623"/>
            </a:xfrm>
            <a:custGeom>
              <a:rect b="b" l="l" r="r" t="t"/>
              <a:pathLst>
                <a:path extrusionOk="0" h="2121623" w="6583680">
                  <a:moveTo>
                    <a:pt x="0" y="223329"/>
                  </a:moveTo>
                  <a:cubicBezTo>
                    <a:pt x="0" y="100033"/>
                    <a:pt x="109220" y="0"/>
                    <a:pt x="243840" y="0"/>
                  </a:cubicBezTo>
                  <a:lnTo>
                    <a:pt x="6339840" y="0"/>
                  </a:lnTo>
                  <a:cubicBezTo>
                    <a:pt x="6474460" y="0"/>
                    <a:pt x="6583680" y="100033"/>
                    <a:pt x="6583680" y="223329"/>
                  </a:cubicBezTo>
                  <a:lnTo>
                    <a:pt x="6583680" y="1898294"/>
                  </a:lnTo>
                  <a:cubicBezTo>
                    <a:pt x="6583680" y="2021590"/>
                    <a:pt x="6474460" y="2121623"/>
                    <a:pt x="6339840" y="2121623"/>
                  </a:cubicBezTo>
                  <a:lnTo>
                    <a:pt x="243840" y="2121623"/>
                  </a:lnTo>
                  <a:cubicBezTo>
                    <a:pt x="109220" y="2121623"/>
                    <a:pt x="0" y="2021590"/>
                    <a:pt x="0" y="1898294"/>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5" name="Google Shape;115;p2"/>
            <p:cNvGrpSpPr/>
            <p:nvPr/>
          </p:nvGrpSpPr>
          <p:grpSpPr>
            <a:xfrm>
              <a:off x="11564279" y="7069375"/>
              <a:ext cx="6096000" cy="2188298"/>
              <a:chOff x="0" y="-66675"/>
              <a:chExt cx="6096000" cy="2188298"/>
            </a:xfrm>
          </p:grpSpPr>
          <p:sp>
            <p:nvSpPr>
              <p:cNvPr id="116" name="Google Shape;116;p2"/>
              <p:cNvSpPr/>
              <p:nvPr/>
            </p:nvSpPr>
            <p:spPr>
              <a:xfrm>
                <a:off x="0" y="0"/>
                <a:ext cx="6096000" cy="2121623"/>
              </a:xfrm>
              <a:custGeom>
                <a:rect b="b" l="l" r="r" t="t"/>
                <a:pathLst>
                  <a:path extrusionOk="0" h="2121623" w="6096000">
                    <a:moveTo>
                      <a:pt x="0" y="0"/>
                    </a:moveTo>
                    <a:lnTo>
                      <a:pt x="6096000" y="0"/>
                    </a:lnTo>
                    <a:lnTo>
                      <a:pt x="6096000" y="2121623"/>
                    </a:lnTo>
                    <a:lnTo>
                      <a:pt x="0" y="2121623"/>
                    </a:lnTo>
                    <a:close/>
                  </a:path>
                </a:pathLst>
              </a:custGeom>
              <a:blipFill rotWithShape="1">
                <a:blip r:embed="rId3">
                  <a:alphaModFix amt="0"/>
                </a:blip>
                <a:stretch>
                  <a:fillRect b="-10578" l="0" r="0" t="-139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2"/>
              <p:cNvSpPr txBox="1"/>
              <p:nvPr/>
            </p:nvSpPr>
            <p:spPr>
              <a:xfrm>
                <a:off x="0" y="-66675"/>
                <a:ext cx="6096000" cy="2188298"/>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lang="en-US" sz="2799">
                    <a:solidFill>
                      <a:srgbClr val="1F2430"/>
                    </a:solidFill>
                    <a:latin typeface="Calibri"/>
                    <a:ea typeface="Calibri"/>
                    <a:cs typeface="Calibri"/>
                    <a:sym typeface="Calibri"/>
                  </a:rPr>
                  <a:t>High traffic raises median delivery time to 65 min, vs 51 min when traffic is low.</a:t>
                </a:r>
                <a:endParaRPr/>
              </a:p>
            </p:txBody>
          </p:sp>
        </p:grpSp>
        <p:sp>
          <p:nvSpPr>
            <p:cNvPr id="118" name="Google Shape;118;p2"/>
            <p:cNvSpPr/>
            <p:nvPr/>
          </p:nvSpPr>
          <p:spPr>
            <a:xfrm>
              <a:off x="14063639" y="5617415"/>
              <a:ext cx="1097280" cy="1004979"/>
            </a:xfrm>
            <a:custGeom>
              <a:rect b="b" l="l" r="r" t="t"/>
              <a:pathLst>
                <a:path extrusionOk="0" h="1004979" w="1097280">
                  <a:moveTo>
                    <a:pt x="0" y="502490"/>
                  </a:moveTo>
                  <a:cubicBezTo>
                    <a:pt x="0" y="224957"/>
                    <a:pt x="245618" y="0"/>
                    <a:pt x="548640" y="0"/>
                  </a:cubicBezTo>
                  <a:cubicBezTo>
                    <a:pt x="851662" y="0"/>
                    <a:pt x="1097280" y="224957"/>
                    <a:pt x="1097280" y="502490"/>
                  </a:cubicBezTo>
                  <a:cubicBezTo>
                    <a:pt x="1097280" y="780022"/>
                    <a:pt x="851662" y="1004979"/>
                    <a:pt x="548640" y="1004979"/>
                  </a:cubicBezTo>
                  <a:cubicBezTo>
                    <a:pt x="245618" y="1004979"/>
                    <a:pt x="0" y="780022"/>
                    <a:pt x="0" y="502490"/>
                  </a:cubicBezTo>
                  <a:close/>
                </a:path>
              </a:pathLst>
            </a:custGeom>
            <a:solidFill>
              <a:srgbClr val="2646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9" name="Google Shape;119;p2"/>
            <p:cNvGrpSpPr/>
            <p:nvPr/>
          </p:nvGrpSpPr>
          <p:grpSpPr>
            <a:xfrm>
              <a:off x="14063639" y="5550740"/>
              <a:ext cx="1097280" cy="1071654"/>
              <a:chOff x="0" y="-66675"/>
              <a:chExt cx="1097280" cy="1071654"/>
            </a:xfrm>
          </p:grpSpPr>
          <p:sp>
            <p:nvSpPr>
              <p:cNvPr id="120" name="Google Shape;120;p2"/>
              <p:cNvSpPr/>
              <p:nvPr/>
            </p:nvSpPr>
            <p:spPr>
              <a:xfrm>
                <a:off x="0" y="0"/>
                <a:ext cx="1097280" cy="1004979"/>
              </a:xfrm>
              <a:custGeom>
                <a:rect b="b" l="l" r="r" t="t"/>
                <a:pathLst>
                  <a:path extrusionOk="0" h="1004979" w="1097280">
                    <a:moveTo>
                      <a:pt x="0" y="0"/>
                    </a:moveTo>
                    <a:lnTo>
                      <a:pt x="1097280" y="0"/>
                    </a:lnTo>
                    <a:lnTo>
                      <a:pt x="1097280" y="1004979"/>
                    </a:lnTo>
                    <a:lnTo>
                      <a:pt x="0" y="1004979"/>
                    </a:lnTo>
                    <a:close/>
                  </a:path>
                </a:pathLst>
              </a:custGeom>
              <a:blipFill rotWithShape="1">
                <a:blip r:embed="rId3">
                  <a:alphaModFix amt="0"/>
                </a:blip>
                <a:stretch>
                  <a:fillRect b="-9183"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2"/>
              <p:cNvSpPr txBox="1"/>
              <p:nvPr/>
            </p:nvSpPr>
            <p:spPr>
              <a:xfrm>
                <a:off x="0" y="-66675"/>
                <a:ext cx="1097280" cy="1071654"/>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b="1" lang="en-US" sz="2799">
                    <a:solidFill>
                      <a:srgbClr val="FFFFFF"/>
                    </a:solidFill>
                    <a:latin typeface="Calibri"/>
                    <a:ea typeface="Calibri"/>
                    <a:cs typeface="Calibri"/>
                    <a:sym typeface="Calibri"/>
                  </a:rPr>
                  <a:t>3</a:t>
                </a:r>
                <a:endParaRPr/>
              </a:p>
            </p:txBody>
          </p:sp>
        </p:grpSp>
        <p:grpSp>
          <p:nvGrpSpPr>
            <p:cNvPr id="122" name="Google Shape;122;p2"/>
            <p:cNvGrpSpPr/>
            <p:nvPr/>
          </p:nvGrpSpPr>
          <p:grpSpPr>
            <a:xfrm>
              <a:off x="12399939" y="4694691"/>
              <a:ext cx="3901440" cy="678458"/>
              <a:chOff x="0" y="-38100"/>
              <a:chExt cx="3901440" cy="678458"/>
            </a:xfrm>
          </p:grpSpPr>
          <p:sp>
            <p:nvSpPr>
              <p:cNvPr id="123" name="Google Shape;123;p2"/>
              <p:cNvSpPr/>
              <p:nvPr/>
            </p:nvSpPr>
            <p:spPr>
              <a:xfrm>
                <a:off x="0" y="0"/>
                <a:ext cx="3901440" cy="640358"/>
              </a:xfrm>
              <a:custGeom>
                <a:rect b="b" l="l" r="r" t="t"/>
                <a:pathLst>
                  <a:path extrusionOk="0" h="640358" w="3901440">
                    <a:moveTo>
                      <a:pt x="0" y="0"/>
                    </a:moveTo>
                    <a:lnTo>
                      <a:pt x="3901440" y="0"/>
                    </a:lnTo>
                    <a:lnTo>
                      <a:pt x="3901440" y="640358"/>
                    </a:lnTo>
                    <a:lnTo>
                      <a:pt x="0" y="640358"/>
                    </a:lnTo>
                    <a:close/>
                  </a:path>
                </a:pathLst>
              </a:custGeom>
              <a:blipFill rotWithShape="1">
                <a:blip r:embed="rId3">
                  <a:alphaModFix amt="0"/>
                </a:blip>
                <a:stretch>
                  <a:fillRect b="-72024" l="0" r="0" t="-6540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2"/>
              <p:cNvSpPr txBox="1"/>
              <p:nvPr/>
            </p:nvSpPr>
            <p:spPr>
              <a:xfrm>
                <a:off x="0" y="-38100"/>
                <a:ext cx="390144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b="1" lang="en-US" sz="2400">
                    <a:solidFill>
                      <a:srgbClr val="1F2430"/>
                    </a:solidFill>
                    <a:latin typeface="Calibri"/>
                    <a:ea typeface="Calibri"/>
                    <a:cs typeface="Calibri"/>
                    <a:sym typeface="Calibri"/>
                  </a:rPr>
                  <a:t>External Friction</a:t>
                </a:r>
                <a:endParaRPr/>
              </a:p>
            </p:txBody>
          </p:sp>
        </p:grpSp>
        <p:grpSp>
          <p:nvGrpSpPr>
            <p:cNvPr id="125" name="Google Shape;125;p2"/>
            <p:cNvGrpSpPr/>
            <p:nvPr/>
          </p:nvGrpSpPr>
          <p:grpSpPr>
            <a:xfrm>
              <a:off x="14124599" y="6479925"/>
              <a:ext cx="975360" cy="678458"/>
              <a:chOff x="0" y="-38100"/>
              <a:chExt cx="975360" cy="678458"/>
            </a:xfrm>
          </p:grpSpPr>
          <p:sp>
            <p:nvSpPr>
              <p:cNvPr id="126" name="Google Shape;126;p2"/>
              <p:cNvSpPr/>
              <p:nvPr/>
            </p:nvSpPr>
            <p:spPr>
              <a:xfrm>
                <a:off x="0" y="0"/>
                <a:ext cx="975360" cy="640358"/>
              </a:xfrm>
              <a:custGeom>
                <a:rect b="b" l="l" r="r" t="t"/>
                <a:pathLst>
                  <a:path extrusionOk="0" h="640358" w="975360">
                    <a:moveTo>
                      <a:pt x="0" y="0"/>
                    </a:moveTo>
                    <a:lnTo>
                      <a:pt x="975360" y="0"/>
                    </a:lnTo>
                    <a:lnTo>
                      <a:pt x="975360" y="640358"/>
                    </a:lnTo>
                    <a:lnTo>
                      <a:pt x="0" y="640358"/>
                    </a:lnTo>
                    <a:close/>
                  </a:path>
                </a:pathLst>
              </a:custGeom>
              <a:blipFill rotWithShape="1">
                <a:blip r:embed="rId3">
                  <a:alphaModFix amt="0"/>
                </a:blip>
                <a:stretch>
                  <a:fillRect b="16226" l="-20566" r="-205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2"/>
              <p:cNvSpPr txBox="1"/>
              <p:nvPr/>
            </p:nvSpPr>
            <p:spPr>
              <a:xfrm>
                <a:off x="0" y="-38100"/>
                <a:ext cx="97536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lang="en-US" sz="2400">
                    <a:solidFill>
                      <a:srgbClr val="6B7280"/>
                    </a:solidFill>
                    <a:latin typeface="Calibri"/>
                    <a:ea typeface="Calibri"/>
                    <a:cs typeface="Calibri"/>
                    <a:sym typeface="Calibri"/>
                  </a:rPr>
                  <a:t>↓</a:t>
                </a:r>
                <a:endParaRPr/>
              </a:p>
            </p:txBody>
          </p:sp>
        </p:grpSp>
        <p:sp>
          <p:nvSpPr>
            <p:cNvPr id="128" name="Google Shape;128;p2"/>
            <p:cNvSpPr/>
            <p:nvPr/>
          </p:nvSpPr>
          <p:spPr>
            <a:xfrm>
              <a:off x="15429695" y="69790"/>
              <a:ext cx="6583680" cy="2121623"/>
            </a:xfrm>
            <a:custGeom>
              <a:rect b="b" l="l" r="r" t="t"/>
              <a:pathLst>
                <a:path extrusionOk="0" h="2121623" w="6583680">
                  <a:moveTo>
                    <a:pt x="0" y="223329"/>
                  </a:moveTo>
                  <a:cubicBezTo>
                    <a:pt x="0" y="100033"/>
                    <a:pt x="109220" y="0"/>
                    <a:pt x="243840" y="0"/>
                  </a:cubicBezTo>
                  <a:lnTo>
                    <a:pt x="6339840" y="0"/>
                  </a:lnTo>
                  <a:cubicBezTo>
                    <a:pt x="6474460" y="0"/>
                    <a:pt x="6583680" y="100033"/>
                    <a:pt x="6583680" y="223329"/>
                  </a:cubicBezTo>
                  <a:lnTo>
                    <a:pt x="6583680" y="1898294"/>
                  </a:lnTo>
                  <a:cubicBezTo>
                    <a:pt x="6583680" y="2021590"/>
                    <a:pt x="6474460" y="2121623"/>
                    <a:pt x="6339840" y="2121623"/>
                  </a:cubicBezTo>
                  <a:lnTo>
                    <a:pt x="243840" y="2121623"/>
                  </a:lnTo>
                  <a:cubicBezTo>
                    <a:pt x="109220" y="2121623"/>
                    <a:pt x="0" y="2021590"/>
                    <a:pt x="0" y="1898294"/>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2"/>
            <p:cNvSpPr/>
            <p:nvPr/>
          </p:nvSpPr>
          <p:spPr>
            <a:xfrm>
              <a:off x="18172895" y="2682736"/>
              <a:ext cx="1097280" cy="1004979"/>
            </a:xfrm>
            <a:custGeom>
              <a:rect b="b" l="l" r="r" t="t"/>
              <a:pathLst>
                <a:path extrusionOk="0" h="1004979" w="1097280">
                  <a:moveTo>
                    <a:pt x="0" y="502490"/>
                  </a:moveTo>
                  <a:cubicBezTo>
                    <a:pt x="0" y="224957"/>
                    <a:pt x="245618" y="0"/>
                    <a:pt x="548640" y="0"/>
                  </a:cubicBezTo>
                  <a:cubicBezTo>
                    <a:pt x="851662" y="0"/>
                    <a:pt x="1097280" y="224957"/>
                    <a:pt x="1097280" y="502490"/>
                  </a:cubicBezTo>
                  <a:cubicBezTo>
                    <a:pt x="1097280" y="780022"/>
                    <a:pt x="851662" y="1004979"/>
                    <a:pt x="548640" y="1004979"/>
                  </a:cubicBezTo>
                  <a:cubicBezTo>
                    <a:pt x="245618" y="1004979"/>
                    <a:pt x="0" y="780022"/>
                    <a:pt x="0" y="502490"/>
                  </a:cubicBezTo>
                  <a:close/>
                </a:path>
              </a:pathLst>
            </a:custGeom>
            <a:solidFill>
              <a:srgbClr val="2A9D8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0" name="Google Shape;130;p2"/>
            <p:cNvGrpSpPr/>
            <p:nvPr/>
          </p:nvGrpSpPr>
          <p:grpSpPr>
            <a:xfrm>
              <a:off x="18172895" y="2616061"/>
              <a:ext cx="1097280" cy="1071654"/>
              <a:chOff x="0" y="-66675"/>
              <a:chExt cx="1097280" cy="1071654"/>
            </a:xfrm>
          </p:grpSpPr>
          <p:sp>
            <p:nvSpPr>
              <p:cNvPr id="131" name="Google Shape;131;p2"/>
              <p:cNvSpPr/>
              <p:nvPr/>
            </p:nvSpPr>
            <p:spPr>
              <a:xfrm>
                <a:off x="0" y="0"/>
                <a:ext cx="1097280" cy="1004979"/>
              </a:xfrm>
              <a:custGeom>
                <a:rect b="b" l="l" r="r" t="t"/>
                <a:pathLst>
                  <a:path extrusionOk="0" h="1004979" w="1097280">
                    <a:moveTo>
                      <a:pt x="0" y="0"/>
                    </a:moveTo>
                    <a:lnTo>
                      <a:pt x="1097280" y="0"/>
                    </a:lnTo>
                    <a:lnTo>
                      <a:pt x="1097280" y="1004979"/>
                    </a:lnTo>
                    <a:lnTo>
                      <a:pt x="0" y="1004979"/>
                    </a:lnTo>
                    <a:close/>
                  </a:path>
                </a:pathLst>
              </a:custGeom>
              <a:blipFill rotWithShape="1">
                <a:blip r:embed="rId3">
                  <a:alphaModFix amt="0"/>
                </a:blip>
                <a:stretch>
                  <a:fillRect b="-9183"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2"/>
              <p:cNvSpPr txBox="1"/>
              <p:nvPr/>
            </p:nvSpPr>
            <p:spPr>
              <a:xfrm>
                <a:off x="0" y="-66675"/>
                <a:ext cx="1097280" cy="1071654"/>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b="1" lang="en-US" sz="2799">
                    <a:solidFill>
                      <a:srgbClr val="FFFFFF"/>
                    </a:solidFill>
                    <a:latin typeface="Calibri"/>
                    <a:ea typeface="Calibri"/>
                    <a:cs typeface="Calibri"/>
                    <a:sym typeface="Calibri"/>
                  </a:rPr>
                  <a:t>4</a:t>
                </a:r>
                <a:endParaRPr/>
              </a:p>
            </p:txBody>
          </p:sp>
        </p:grpSp>
        <p:grpSp>
          <p:nvGrpSpPr>
            <p:cNvPr id="133" name="Google Shape;133;p2"/>
            <p:cNvGrpSpPr/>
            <p:nvPr/>
          </p:nvGrpSpPr>
          <p:grpSpPr>
            <a:xfrm>
              <a:off x="18233855" y="2004278"/>
              <a:ext cx="975360" cy="678458"/>
              <a:chOff x="0" y="-38100"/>
              <a:chExt cx="975360" cy="678458"/>
            </a:xfrm>
          </p:grpSpPr>
          <p:sp>
            <p:nvSpPr>
              <p:cNvPr id="134" name="Google Shape;134;p2"/>
              <p:cNvSpPr/>
              <p:nvPr/>
            </p:nvSpPr>
            <p:spPr>
              <a:xfrm>
                <a:off x="0" y="0"/>
                <a:ext cx="975360" cy="640358"/>
              </a:xfrm>
              <a:custGeom>
                <a:rect b="b" l="l" r="r" t="t"/>
                <a:pathLst>
                  <a:path extrusionOk="0" h="640358" w="975360">
                    <a:moveTo>
                      <a:pt x="0" y="0"/>
                    </a:moveTo>
                    <a:lnTo>
                      <a:pt x="975360" y="0"/>
                    </a:lnTo>
                    <a:lnTo>
                      <a:pt x="975360" y="640358"/>
                    </a:lnTo>
                    <a:lnTo>
                      <a:pt x="0" y="640358"/>
                    </a:lnTo>
                    <a:close/>
                  </a:path>
                </a:pathLst>
              </a:custGeom>
              <a:blipFill rotWithShape="1">
                <a:blip r:embed="rId3">
                  <a:alphaModFix amt="0"/>
                </a:blip>
                <a:stretch>
                  <a:fillRect b="16226" l="-20566" r="-205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2"/>
              <p:cNvSpPr txBox="1"/>
              <p:nvPr/>
            </p:nvSpPr>
            <p:spPr>
              <a:xfrm>
                <a:off x="0" y="-38100"/>
                <a:ext cx="97536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lang="en-US" sz="2400">
                    <a:solidFill>
                      <a:srgbClr val="6B7280"/>
                    </a:solidFill>
                    <a:latin typeface="Calibri"/>
                    <a:ea typeface="Calibri"/>
                    <a:cs typeface="Calibri"/>
                    <a:sym typeface="Calibri"/>
                  </a:rPr>
                  <a:t>↑</a:t>
                </a:r>
                <a:endParaRPr/>
              </a:p>
            </p:txBody>
          </p:sp>
        </p:grpSp>
        <p:grpSp>
          <p:nvGrpSpPr>
            <p:cNvPr id="136" name="Google Shape;136;p2"/>
            <p:cNvGrpSpPr/>
            <p:nvPr/>
          </p:nvGrpSpPr>
          <p:grpSpPr>
            <a:xfrm>
              <a:off x="15917375" y="-66675"/>
              <a:ext cx="6096000" cy="2188298"/>
              <a:chOff x="0" y="-66675"/>
              <a:chExt cx="6096000" cy="2188298"/>
            </a:xfrm>
          </p:grpSpPr>
          <p:sp>
            <p:nvSpPr>
              <p:cNvPr id="137" name="Google Shape;137;p2"/>
              <p:cNvSpPr/>
              <p:nvPr/>
            </p:nvSpPr>
            <p:spPr>
              <a:xfrm>
                <a:off x="0" y="0"/>
                <a:ext cx="6096000" cy="2121623"/>
              </a:xfrm>
              <a:custGeom>
                <a:rect b="b" l="l" r="r" t="t"/>
                <a:pathLst>
                  <a:path extrusionOk="0" h="2121623" w="6096000">
                    <a:moveTo>
                      <a:pt x="0" y="0"/>
                    </a:moveTo>
                    <a:lnTo>
                      <a:pt x="6096000" y="0"/>
                    </a:lnTo>
                    <a:lnTo>
                      <a:pt x="6096000" y="2121623"/>
                    </a:lnTo>
                    <a:lnTo>
                      <a:pt x="0" y="2121623"/>
                    </a:lnTo>
                    <a:close/>
                  </a:path>
                </a:pathLst>
              </a:custGeom>
              <a:blipFill rotWithShape="1">
                <a:blip r:embed="rId3">
                  <a:alphaModFix amt="0"/>
                </a:blip>
                <a:stretch>
                  <a:fillRect b="-10578" l="0" r="0" t="-139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2"/>
              <p:cNvSpPr txBox="1"/>
              <p:nvPr/>
            </p:nvSpPr>
            <p:spPr>
              <a:xfrm>
                <a:off x="0" y="-66675"/>
                <a:ext cx="6096000" cy="2188298"/>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lang="en-US" sz="2799">
                    <a:solidFill>
                      <a:srgbClr val="1F2430"/>
                    </a:solidFill>
                    <a:latin typeface="Calibri"/>
                    <a:ea typeface="Calibri"/>
                    <a:cs typeface="Calibri"/>
                    <a:sym typeface="Calibri"/>
                  </a:rPr>
                  <a:t>Regression cuts average error from 17.5 to 6.05 min and reveals key drivers.</a:t>
                </a:r>
                <a:endParaRPr/>
              </a:p>
            </p:txBody>
          </p:sp>
        </p:grpSp>
        <p:grpSp>
          <p:nvGrpSpPr>
            <p:cNvPr id="139" name="Google Shape;139;p2"/>
            <p:cNvGrpSpPr/>
            <p:nvPr/>
          </p:nvGrpSpPr>
          <p:grpSpPr>
            <a:xfrm>
              <a:off x="16770553" y="3976111"/>
              <a:ext cx="3901440" cy="678458"/>
              <a:chOff x="0" y="-38100"/>
              <a:chExt cx="3901440" cy="678458"/>
            </a:xfrm>
          </p:grpSpPr>
          <p:sp>
            <p:nvSpPr>
              <p:cNvPr id="140" name="Google Shape;140;p2"/>
              <p:cNvSpPr/>
              <p:nvPr/>
            </p:nvSpPr>
            <p:spPr>
              <a:xfrm>
                <a:off x="0" y="0"/>
                <a:ext cx="3901440" cy="640358"/>
              </a:xfrm>
              <a:custGeom>
                <a:rect b="b" l="l" r="r" t="t"/>
                <a:pathLst>
                  <a:path extrusionOk="0" h="640358" w="3901440">
                    <a:moveTo>
                      <a:pt x="0" y="0"/>
                    </a:moveTo>
                    <a:lnTo>
                      <a:pt x="3901440" y="0"/>
                    </a:lnTo>
                    <a:lnTo>
                      <a:pt x="3901440" y="640358"/>
                    </a:lnTo>
                    <a:lnTo>
                      <a:pt x="0" y="640358"/>
                    </a:lnTo>
                    <a:close/>
                  </a:path>
                </a:pathLst>
              </a:custGeom>
              <a:blipFill rotWithShape="1">
                <a:blip r:embed="rId3">
                  <a:alphaModFix amt="0"/>
                </a:blip>
                <a:stretch>
                  <a:fillRect b="-72024" l="0" r="0" t="-6540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2"/>
              <p:cNvSpPr txBox="1"/>
              <p:nvPr/>
            </p:nvSpPr>
            <p:spPr>
              <a:xfrm>
                <a:off x="0" y="-38100"/>
                <a:ext cx="390144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b="1" lang="en-US" sz="2400">
                    <a:solidFill>
                      <a:srgbClr val="1F2430"/>
                    </a:solidFill>
                    <a:latin typeface="Calibri"/>
                    <a:ea typeface="Calibri"/>
                    <a:cs typeface="Calibri"/>
                    <a:sym typeface="Calibri"/>
                  </a:rPr>
                  <a:t>ML Solution</a:t>
                </a:r>
                <a:endParaRPr/>
              </a:p>
            </p:txBody>
          </p:sp>
        </p:grpSp>
        <p:sp>
          <p:nvSpPr>
            <p:cNvPr id="142" name="Google Shape;142;p2"/>
            <p:cNvSpPr/>
            <p:nvPr/>
          </p:nvSpPr>
          <p:spPr>
            <a:xfrm>
              <a:off x="2841655" y="5343652"/>
              <a:ext cx="1097280" cy="1004979"/>
            </a:xfrm>
            <a:custGeom>
              <a:rect b="b" l="l" r="r" t="t"/>
              <a:pathLst>
                <a:path extrusionOk="0" h="1004979" w="1097280">
                  <a:moveTo>
                    <a:pt x="0" y="502490"/>
                  </a:moveTo>
                  <a:cubicBezTo>
                    <a:pt x="0" y="224957"/>
                    <a:pt x="245618" y="0"/>
                    <a:pt x="548640" y="0"/>
                  </a:cubicBezTo>
                  <a:cubicBezTo>
                    <a:pt x="851662" y="0"/>
                    <a:pt x="1097280" y="224957"/>
                    <a:pt x="1097280" y="502490"/>
                  </a:cubicBezTo>
                  <a:cubicBezTo>
                    <a:pt x="1097280" y="780022"/>
                    <a:pt x="851662" y="1004979"/>
                    <a:pt x="548640" y="1004979"/>
                  </a:cubicBezTo>
                  <a:cubicBezTo>
                    <a:pt x="245618" y="1004979"/>
                    <a:pt x="0" y="780022"/>
                    <a:pt x="0" y="502490"/>
                  </a:cubicBezTo>
                  <a:close/>
                </a:path>
              </a:pathLst>
            </a:custGeom>
            <a:solidFill>
              <a:srgbClr val="E639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3" name="Google Shape;143;p2"/>
            <p:cNvGrpSpPr/>
            <p:nvPr/>
          </p:nvGrpSpPr>
          <p:grpSpPr>
            <a:xfrm>
              <a:off x="2841655" y="5276977"/>
              <a:ext cx="1097280" cy="1071654"/>
              <a:chOff x="0" y="-66675"/>
              <a:chExt cx="1097280" cy="1071654"/>
            </a:xfrm>
          </p:grpSpPr>
          <p:sp>
            <p:nvSpPr>
              <p:cNvPr id="144" name="Google Shape;144;p2"/>
              <p:cNvSpPr/>
              <p:nvPr/>
            </p:nvSpPr>
            <p:spPr>
              <a:xfrm>
                <a:off x="0" y="0"/>
                <a:ext cx="1097280" cy="1004979"/>
              </a:xfrm>
              <a:custGeom>
                <a:rect b="b" l="l" r="r" t="t"/>
                <a:pathLst>
                  <a:path extrusionOk="0" h="1004979" w="1097280">
                    <a:moveTo>
                      <a:pt x="0" y="0"/>
                    </a:moveTo>
                    <a:lnTo>
                      <a:pt x="1097280" y="0"/>
                    </a:lnTo>
                    <a:lnTo>
                      <a:pt x="1097280" y="1004979"/>
                    </a:lnTo>
                    <a:lnTo>
                      <a:pt x="0" y="1004979"/>
                    </a:lnTo>
                    <a:close/>
                  </a:path>
                </a:pathLst>
              </a:custGeom>
              <a:blipFill rotWithShape="1">
                <a:blip r:embed="rId3">
                  <a:alphaModFix amt="0"/>
                </a:blip>
                <a:stretch>
                  <a:fillRect b="-9183"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2"/>
              <p:cNvSpPr txBox="1"/>
              <p:nvPr/>
            </p:nvSpPr>
            <p:spPr>
              <a:xfrm>
                <a:off x="0" y="-66675"/>
                <a:ext cx="1097280" cy="1071654"/>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b="1" lang="en-US" sz="2799">
                    <a:solidFill>
                      <a:srgbClr val="FFFFFF"/>
                    </a:solidFill>
                    <a:latin typeface="Calibri"/>
                    <a:ea typeface="Calibri"/>
                    <a:cs typeface="Calibri"/>
                    <a:sym typeface="Calibri"/>
                  </a:rPr>
                  <a:t>1</a:t>
                </a:r>
                <a:endParaRPr/>
              </a:p>
            </p:txBody>
          </p:sp>
        </p:grpSp>
        <p:grpSp>
          <p:nvGrpSpPr>
            <p:cNvPr id="146" name="Google Shape;146;p2"/>
            <p:cNvGrpSpPr/>
            <p:nvPr/>
          </p:nvGrpSpPr>
          <p:grpSpPr>
            <a:xfrm>
              <a:off x="1142520" y="4554228"/>
              <a:ext cx="3901440" cy="678458"/>
              <a:chOff x="0" y="-38100"/>
              <a:chExt cx="3901440" cy="678458"/>
            </a:xfrm>
          </p:grpSpPr>
          <p:sp>
            <p:nvSpPr>
              <p:cNvPr id="147" name="Google Shape;147;p2"/>
              <p:cNvSpPr/>
              <p:nvPr/>
            </p:nvSpPr>
            <p:spPr>
              <a:xfrm>
                <a:off x="0" y="0"/>
                <a:ext cx="3901440" cy="640358"/>
              </a:xfrm>
              <a:custGeom>
                <a:rect b="b" l="l" r="r" t="t"/>
                <a:pathLst>
                  <a:path extrusionOk="0" h="640358" w="3901440">
                    <a:moveTo>
                      <a:pt x="0" y="0"/>
                    </a:moveTo>
                    <a:lnTo>
                      <a:pt x="3901440" y="0"/>
                    </a:lnTo>
                    <a:lnTo>
                      <a:pt x="3901440" y="640358"/>
                    </a:lnTo>
                    <a:lnTo>
                      <a:pt x="0" y="640358"/>
                    </a:lnTo>
                    <a:close/>
                  </a:path>
                </a:pathLst>
              </a:custGeom>
              <a:blipFill rotWithShape="1">
                <a:blip r:embed="rId3">
                  <a:alphaModFix amt="0"/>
                </a:blip>
                <a:stretch>
                  <a:fillRect b="-72024" l="0" r="0" t="-6540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
              <p:cNvSpPr txBox="1"/>
              <p:nvPr/>
            </p:nvSpPr>
            <p:spPr>
              <a:xfrm>
                <a:off x="0" y="-38100"/>
                <a:ext cx="390144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b="1" lang="en-US" sz="2400">
                    <a:solidFill>
                      <a:srgbClr val="1F2430"/>
                    </a:solidFill>
                    <a:latin typeface="Calibri"/>
                    <a:ea typeface="Calibri"/>
                    <a:cs typeface="Calibri"/>
                    <a:sym typeface="Calibri"/>
                  </a:rPr>
                  <a:t>Inaccurate Estimates</a:t>
                </a:r>
                <a:endParaRPr/>
              </a:p>
            </p:txBody>
          </p:sp>
        </p:grpSp>
        <p:grpSp>
          <p:nvGrpSpPr>
            <p:cNvPr id="149" name="Google Shape;149;p2"/>
            <p:cNvGrpSpPr/>
            <p:nvPr/>
          </p:nvGrpSpPr>
          <p:grpSpPr>
            <a:xfrm>
              <a:off x="2902615" y="6206162"/>
              <a:ext cx="975360" cy="678458"/>
              <a:chOff x="0" y="-38100"/>
              <a:chExt cx="975360" cy="678458"/>
            </a:xfrm>
          </p:grpSpPr>
          <p:sp>
            <p:nvSpPr>
              <p:cNvPr id="150" name="Google Shape;150;p2"/>
              <p:cNvSpPr/>
              <p:nvPr/>
            </p:nvSpPr>
            <p:spPr>
              <a:xfrm>
                <a:off x="0" y="0"/>
                <a:ext cx="975360" cy="640358"/>
              </a:xfrm>
              <a:custGeom>
                <a:rect b="b" l="l" r="r" t="t"/>
                <a:pathLst>
                  <a:path extrusionOk="0" h="640358" w="975360">
                    <a:moveTo>
                      <a:pt x="0" y="0"/>
                    </a:moveTo>
                    <a:lnTo>
                      <a:pt x="975360" y="0"/>
                    </a:lnTo>
                    <a:lnTo>
                      <a:pt x="975360" y="640358"/>
                    </a:lnTo>
                    <a:lnTo>
                      <a:pt x="0" y="640358"/>
                    </a:lnTo>
                    <a:close/>
                  </a:path>
                </a:pathLst>
              </a:custGeom>
              <a:blipFill rotWithShape="1">
                <a:blip r:embed="rId3">
                  <a:alphaModFix amt="0"/>
                </a:blip>
                <a:stretch>
                  <a:fillRect b="16226" l="-20566" r="-205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2"/>
              <p:cNvSpPr txBox="1"/>
              <p:nvPr/>
            </p:nvSpPr>
            <p:spPr>
              <a:xfrm>
                <a:off x="0" y="-38100"/>
                <a:ext cx="975360" cy="678458"/>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lang="en-US" sz="2400">
                    <a:solidFill>
                      <a:srgbClr val="6B7280"/>
                    </a:solidFill>
                    <a:latin typeface="Calibri"/>
                    <a:ea typeface="Calibri"/>
                    <a:cs typeface="Calibri"/>
                    <a:sym typeface="Calibri"/>
                  </a:rPr>
                  <a:t>↓</a:t>
                </a:r>
                <a:endParaRPr/>
              </a:p>
            </p:txBody>
          </p:sp>
        </p:grpSp>
        <p:sp>
          <p:nvSpPr>
            <p:cNvPr id="152" name="Google Shape;152;p2"/>
            <p:cNvSpPr/>
            <p:nvPr/>
          </p:nvSpPr>
          <p:spPr>
            <a:xfrm>
              <a:off x="186306" y="6995586"/>
              <a:ext cx="6899227" cy="2497685"/>
            </a:xfrm>
            <a:custGeom>
              <a:rect b="b" l="l" r="r" t="t"/>
              <a:pathLst>
                <a:path extrusionOk="0" h="2383449" w="6583680">
                  <a:moveTo>
                    <a:pt x="0" y="250889"/>
                  </a:moveTo>
                  <a:cubicBezTo>
                    <a:pt x="0" y="112378"/>
                    <a:pt x="109220" y="0"/>
                    <a:pt x="243840" y="0"/>
                  </a:cubicBezTo>
                  <a:lnTo>
                    <a:pt x="6339840" y="0"/>
                  </a:lnTo>
                  <a:cubicBezTo>
                    <a:pt x="6474460" y="0"/>
                    <a:pt x="6583680" y="112378"/>
                    <a:pt x="6583680" y="250889"/>
                  </a:cubicBezTo>
                  <a:lnTo>
                    <a:pt x="6583680" y="2132560"/>
                  </a:lnTo>
                  <a:cubicBezTo>
                    <a:pt x="6583680" y="2271072"/>
                    <a:pt x="6474460" y="2383449"/>
                    <a:pt x="6339840" y="2383449"/>
                  </a:cubicBezTo>
                  <a:lnTo>
                    <a:pt x="243840" y="2383449"/>
                  </a:lnTo>
                  <a:cubicBezTo>
                    <a:pt x="109220" y="2383449"/>
                    <a:pt x="0" y="2271072"/>
                    <a:pt x="0" y="213256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53" name="Google Shape;153;p2"/>
            <p:cNvGrpSpPr/>
            <p:nvPr/>
          </p:nvGrpSpPr>
          <p:grpSpPr>
            <a:xfrm>
              <a:off x="430146" y="6878166"/>
              <a:ext cx="5920299" cy="2473633"/>
              <a:chOff x="0" y="-66675"/>
              <a:chExt cx="7258527" cy="3032774"/>
            </a:xfrm>
          </p:grpSpPr>
          <p:sp>
            <p:nvSpPr>
              <p:cNvPr id="154" name="Google Shape;154;p2"/>
              <p:cNvSpPr/>
              <p:nvPr/>
            </p:nvSpPr>
            <p:spPr>
              <a:xfrm>
                <a:off x="0" y="0"/>
                <a:ext cx="7258527" cy="2966099"/>
              </a:xfrm>
              <a:custGeom>
                <a:rect b="b" l="l" r="r" t="t"/>
                <a:pathLst>
                  <a:path extrusionOk="0" h="2966099" w="7258527">
                    <a:moveTo>
                      <a:pt x="0" y="0"/>
                    </a:moveTo>
                    <a:lnTo>
                      <a:pt x="7258527" y="0"/>
                    </a:lnTo>
                    <a:lnTo>
                      <a:pt x="7258527" y="2966099"/>
                    </a:lnTo>
                    <a:lnTo>
                      <a:pt x="0" y="2966099"/>
                    </a:lnTo>
                    <a:close/>
                  </a:path>
                </a:pathLst>
              </a:custGeom>
              <a:blipFill rotWithShape="1">
                <a:blip r:embed="rId3">
                  <a:alphaModFix amt="0"/>
                </a:blip>
                <a:stretch>
                  <a:fillRect b="20904" l="0" r="16016" t="-9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2"/>
              <p:cNvSpPr txBox="1"/>
              <p:nvPr/>
            </p:nvSpPr>
            <p:spPr>
              <a:xfrm>
                <a:off x="0" y="-66675"/>
                <a:ext cx="7258527" cy="3032774"/>
              </a:xfrm>
              <a:prstGeom prst="rect">
                <a:avLst/>
              </a:prstGeom>
              <a:noFill/>
              <a:ln>
                <a:noFill/>
              </a:ln>
            </p:spPr>
            <p:txBody>
              <a:bodyPr anchorCtr="0" anchor="ctr" bIns="0" lIns="0" spcFirstLastPara="1" rIns="0" wrap="square" tIns="0">
                <a:noAutofit/>
              </a:bodyPr>
              <a:lstStyle/>
              <a:p>
                <a:pPr indent="0" lvl="0" marL="0" marR="0" rtl="0" algn="ctr">
                  <a:lnSpc>
                    <a:spcPct val="120007"/>
                  </a:lnSpc>
                  <a:spcBef>
                    <a:spcPts val="0"/>
                  </a:spcBef>
                  <a:spcAft>
                    <a:spcPts val="0"/>
                  </a:spcAft>
                  <a:buNone/>
                </a:pPr>
                <a:r>
                  <a:rPr lang="en-US" sz="2799">
                    <a:solidFill>
                      <a:srgbClr val="1F2430"/>
                    </a:solidFill>
                    <a:latin typeface="Calibri"/>
                    <a:ea typeface="Calibri"/>
                    <a:cs typeface="Calibri"/>
                    <a:sym typeface="Calibri"/>
                  </a:rPr>
                  <a:t>Baseline averages miss by ~17.5 min per order, negatively impacting customer satisfaction</a:t>
                </a:r>
                <a:endParaRPr/>
              </a:p>
            </p:txBody>
          </p:sp>
        </p:grpSp>
      </p:grpSp>
      <p:sp>
        <p:nvSpPr>
          <p:cNvPr id="156" name="Google Shape;156;p2"/>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grpSp>
        <p:nvGrpSpPr>
          <p:cNvPr id="161" name="Google Shape;161;p3"/>
          <p:cNvGrpSpPr/>
          <p:nvPr/>
        </p:nvGrpSpPr>
        <p:grpSpPr>
          <a:xfrm>
            <a:off x="914400" y="541496"/>
            <a:ext cx="16459200" cy="1287304"/>
            <a:chOff x="0" y="-9525"/>
            <a:chExt cx="21945600" cy="1716405"/>
          </a:xfrm>
        </p:grpSpPr>
        <p:sp>
          <p:nvSpPr>
            <p:cNvPr id="162" name="Google Shape;162;p3"/>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3"/>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Dataset Overview</a:t>
              </a:r>
              <a:endParaRPr/>
            </a:p>
          </p:txBody>
        </p:sp>
      </p:grpSp>
      <p:sp>
        <p:nvSpPr>
          <p:cNvPr id="164" name="Google Shape;164;p3"/>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1,000 food delivery orders, with the goal of predicting delivery time</a:t>
            </a:r>
            <a:endParaRPr/>
          </a:p>
        </p:txBody>
      </p:sp>
      <p:sp>
        <p:nvSpPr>
          <p:cNvPr id="165" name="Google Shape;165;p3"/>
          <p:cNvSpPr/>
          <p:nvPr/>
        </p:nvSpPr>
        <p:spPr>
          <a:xfrm>
            <a:off x="914400" y="2926080"/>
            <a:ext cx="3657600" cy="2926080"/>
          </a:xfrm>
          <a:custGeom>
            <a:rect b="b" l="l" r="r" t="t"/>
            <a:pathLst>
              <a:path extrusionOk="0" h="3901440" w="4876800">
                <a:moveTo>
                  <a:pt x="0" y="243840"/>
                </a:moveTo>
                <a:cubicBezTo>
                  <a:pt x="0" y="109220"/>
                  <a:pt x="109220" y="0"/>
                  <a:pt x="243840" y="0"/>
                </a:cubicBezTo>
                <a:lnTo>
                  <a:pt x="4632960" y="0"/>
                </a:lnTo>
                <a:cubicBezTo>
                  <a:pt x="4767580" y="0"/>
                  <a:pt x="4876800" y="109220"/>
                  <a:pt x="4876800" y="243840"/>
                </a:cubicBezTo>
                <a:lnTo>
                  <a:pt x="4876800" y="3657600"/>
                </a:lnTo>
                <a:cubicBezTo>
                  <a:pt x="4876800" y="3792220"/>
                  <a:pt x="4767580" y="3901440"/>
                  <a:pt x="463296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66" name="Google Shape;166;p3"/>
          <p:cNvGrpSpPr/>
          <p:nvPr/>
        </p:nvGrpSpPr>
        <p:grpSpPr>
          <a:xfrm>
            <a:off x="1188720" y="3093244"/>
            <a:ext cx="3108960" cy="1570196"/>
            <a:chOff x="0" y="-142875"/>
            <a:chExt cx="4145280" cy="2093595"/>
          </a:xfrm>
        </p:grpSpPr>
        <p:sp>
          <p:nvSpPr>
            <p:cNvPr id="167" name="Google Shape;167;p3"/>
            <p:cNvSpPr/>
            <p:nvPr/>
          </p:nvSpPr>
          <p:spPr>
            <a:xfrm>
              <a:off x="0" y="0"/>
              <a:ext cx="4145280" cy="1950720"/>
            </a:xfrm>
            <a:custGeom>
              <a:rect b="b" l="l" r="r" t="t"/>
              <a:pathLst>
                <a:path extrusionOk="0" h="1950720" w="4145280">
                  <a:moveTo>
                    <a:pt x="0" y="0"/>
                  </a:moveTo>
                  <a:lnTo>
                    <a:pt x="4145280" y="0"/>
                  </a:lnTo>
                  <a:lnTo>
                    <a:pt x="4145280" y="1950720"/>
                  </a:lnTo>
                  <a:lnTo>
                    <a:pt x="0" y="1950720"/>
                  </a:lnTo>
                  <a:close/>
                </a:path>
              </a:pathLst>
            </a:custGeom>
            <a:blipFill rotWithShape="1">
              <a:blip r:embed="rId3">
                <a:alphaModFix amt="0"/>
              </a:blip>
              <a:stretch>
                <a:fillRect b="0" l="-10378" r="-1037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3"/>
            <p:cNvSpPr txBox="1"/>
            <p:nvPr/>
          </p:nvSpPr>
          <p:spPr>
            <a:xfrm>
              <a:off x="0" y="-142875"/>
              <a:ext cx="414528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1,000</a:t>
              </a:r>
              <a:endParaRPr/>
            </a:p>
          </p:txBody>
        </p:sp>
      </p:grpSp>
      <p:sp>
        <p:nvSpPr>
          <p:cNvPr id="169" name="Google Shape;169;p3"/>
          <p:cNvSpPr txBox="1"/>
          <p:nvPr/>
        </p:nvSpPr>
        <p:spPr>
          <a:xfrm>
            <a:off x="1188720" y="4596765"/>
            <a:ext cx="310896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orders in the dataset</a:t>
            </a:r>
            <a:endParaRPr/>
          </a:p>
        </p:txBody>
      </p:sp>
      <p:sp>
        <p:nvSpPr>
          <p:cNvPr id="170" name="Google Shape;170;p3"/>
          <p:cNvSpPr/>
          <p:nvPr/>
        </p:nvSpPr>
        <p:spPr>
          <a:xfrm>
            <a:off x="5181600" y="2926080"/>
            <a:ext cx="3657600" cy="2926080"/>
          </a:xfrm>
          <a:custGeom>
            <a:rect b="b" l="l" r="r" t="t"/>
            <a:pathLst>
              <a:path extrusionOk="0" h="3901440" w="4876800">
                <a:moveTo>
                  <a:pt x="0" y="243840"/>
                </a:moveTo>
                <a:cubicBezTo>
                  <a:pt x="0" y="109220"/>
                  <a:pt x="109220" y="0"/>
                  <a:pt x="243840" y="0"/>
                </a:cubicBezTo>
                <a:lnTo>
                  <a:pt x="4632960" y="0"/>
                </a:lnTo>
                <a:cubicBezTo>
                  <a:pt x="4767580" y="0"/>
                  <a:pt x="4876800" y="109220"/>
                  <a:pt x="4876800" y="243840"/>
                </a:cubicBezTo>
                <a:lnTo>
                  <a:pt x="4876800" y="3657600"/>
                </a:lnTo>
                <a:cubicBezTo>
                  <a:pt x="4876800" y="3792220"/>
                  <a:pt x="4767580" y="3901440"/>
                  <a:pt x="463296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1" name="Google Shape;171;p3"/>
          <p:cNvGrpSpPr/>
          <p:nvPr/>
        </p:nvGrpSpPr>
        <p:grpSpPr>
          <a:xfrm>
            <a:off x="5455920" y="3093244"/>
            <a:ext cx="3108960" cy="1570196"/>
            <a:chOff x="0" y="-142875"/>
            <a:chExt cx="4145280" cy="2093595"/>
          </a:xfrm>
        </p:grpSpPr>
        <p:sp>
          <p:nvSpPr>
            <p:cNvPr id="172" name="Google Shape;172;p3"/>
            <p:cNvSpPr/>
            <p:nvPr/>
          </p:nvSpPr>
          <p:spPr>
            <a:xfrm>
              <a:off x="0" y="0"/>
              <a:ext cx="4145280" cy="1950720"/>
            </a:xfrm>
            <a:custGeom>
              <a:rect b="b" l="l" r="r" t="t"/>
              <a:pathLst>
                <a:path extrusionOk="0" h="1950720" w="4145280">
                  <a:moveTo>
                    <a:pt x="0" y="0"/>
                  </a:moveTo>
                  <a:lnTo>
                    <a:pt x="4145280" y="0"/>
                  </a:lnTo>
                  <a:lnTo>
                    <a:pt x="4145280" y="1950720"/>
                  </a:lnTo>
                  <a:lnTo>
                    <a:pt x="0" y="1950720"/>
                  </a:lnTo>
                  <a:close/>
                </a:path>
              </a:pathLst>
            </a:custGeom>
            <a:blipFill rotWithShape="1">
              <a:blip r:embed="rId3">
                <a:alphaModFix amt="0"/>
              </a:blip>
              <a:stretch>
                <a:fillRect b="0" l="-10378" r="-1037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3"/>
            <p:cNvSpPr txBox="1"/>
            <p:nvPr/>
          </p:nvSpPr>
          <p:spPr>
            <a:xfrm>
              <a:off x="0" y="-142875"/>
              <a:ext cx="414528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9</a:t>
              </a:r>
              <a:endParaRPr/>
            </a:p>
          </p:txBody>
        </p:sp>
      </p:grpSp>
      <p:sp>
        <p:nvSpPr>
          <p:cNvPr id="174" name="Google Shape;174;p3"/>
          <p:cNvSpPr txBox="1"/>
          <p:nvPr/>
        </p:nvSpPr>
        <p:spPr>
          <a:xfrm>
            <a:off x="5455920" y="4596765"/>
            <a:ext cx="310896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raw columns</a:t>
            </a:r>
            <a:endParaRPr/>
          </a:p>
        </p:txBody>
      </p:sp>
      <p:sp>
        <p:nvSpPr>
          <p:cNvPr id="175" name="Google Shape;175;p3"/>
          <p:cNvSpPr/>
          <p:nvPr/>
        </p:nvSpPr>
        <p:spPr>
          <a:xfrm>
            <a:off x="9448800" y="2926080"/>
            <a:ext cx="3657600" cy="2926080"/>
          </a:xfrm>
          <a:custGeom>
            <a:rect b="b" l="l" r="r" t="t"/>
            <a:pathLst>
              <a:path extrusionOk="0" h="3901440" w="4876800">
                <a:moveTo>
                  <a:pt x="0" y="243840"/>
                </a:moveTo>
                <a:cubicBezTo>
                  <a:pt x="0" y="109220"/>
                  <a:pt x="109220" y="0"/>
                  <a:pt x="243840" y="0"/>
                </a:cubicBezTo>
                <a:lnTo>
                  <a:pt x="4632960" y="0"/>
                </a:lnTo>
                <a:cubicBezTo>
                  <a:pt x="4767580" y="0"/>
                  <a:pt x="4876800" y="109220"/>
                  <a:pt x="4876800" y="243840"/>
                </a:cubicBezTo>
                <a:lnTo>
                  <a:pt x="4876800" y="3657600"/>
                </a:lnTo>
                <a:cubicBezTo>
                  <a:pt x="4876800" y="3792220"/>
                  <a:pt x="4767580" y="3901440"/>
                  <a:pt x="463296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6" name="Google Shape;176;p3"/>
          <p:cNvGrpSpPr/>
          <p:nvPr/>
        </p:nvGrpSpPr>
        <p:grpSpPr>
          <a:xfrm>
            <a:off x="9723120" y="3093244"/>
            <a:ext cx="3108960" cy="1570196"/>
            <a:chOff x="0" y="-142875"/>
            <a:chExt cx="4145280" cy="2093595"/>
          </a:xfrm>
        </p:grpSpPr>
        <p:sp>
          <p:nvSpPr>
            <p:cNvPr id="177" name="Google Shape;177;p3"/>
            <p:cNvSpPr/>
            <p:nvPr/>
          </p:nvSpPr>
          <p:spPr>
            <a:xfrm>
              <a:off x="0" y="0"/>
              <a:ext cx="4145280" cy="1950720"/>
            </a:xfrm>
            <a:custGeom>
              <a:rect b="b" l="l" r="r" t="t"/>
              <a:pathLst>
                <a:path extrusionOk="0" h="1950720" w="4145280">
                  <a:moveTo>
                    <a:pt x="0" y="0"/>
                  </a:moveTo>
                  <a:lnTo>
                    <a:pt x="4145280" y="0"/>
                  </a:lnTo>
                  <a:lnTo>
                    <a:pt x="4145280" y="1950720"/>
                  </a:lnTo>
                  <a:lnTo>
                    <a:pt x="0" y="1950720"/>
                  </a:lnTo>
                  <a:close/>
                </a:path>
              </a:pathLst>
            </a:custGeom>
            <a:blipFill rotWithShape="1">
              <a:blip r:embed="rId3">
                <a:alphaModFix amt="0"/>
              </a:blip>
              <a:stretch>
                <a:fillRect b="0" l="-10378" r="-1037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3"/>
            <p:cNvSpPr txBox="1"/>
            <p:nvPr/>
          </p:nvSpPr>
          <p:spPr>
            <a:xfrm>
              <a:off x="0" y="-142875"/>
              <a:ext cx="414528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80/20</a:t>
              </a:r>
              <a:endParaRPr/>
            </a:p>
          </p:txBody>
        </p:sp>
      </p:grpSp>
      <p:sp>
        <p:nvSpPr>
          <p:cNvPr id="179" name="Google Shape;179;p3"/>
          <p:cNvSpPr txBox="1"/>
          <p:nvPr/>
        </p:nvSpPr>
        <p:spPr>
          <a:xfrm>
            <a:off x="9723120" y="4596765"/>
            <a:ext cx="310896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train / test split (800 / 200 orders)</a:t>
            </a:r>
            <a:endParaRPr/>
          </a:p>
        </p:txBody>
      </p:sp>
      <p:sp>
        <p:nvSpPr>
          <p:cNvPr id="180" name="Google Shape;180;p3"/>
          <p:cNvSpPr/>
          <p:nvPr/>
        </p:nvSpPr>
        <p:spPr>
          <a:xfrm>
            <a:off x="13716000" y="2926080"/>
            <a:ext cx="3657600" cy="2926080"/>
          </a:xfrm>
          <a:custGeom>
            <a:rect b="b" l="l" r="r" t="t"/>
            <a:pathLst>
              <a:path extrusionOk="0" h="3901440" w="4876800">
                <a:moveTo>
                  <a:pt x="0" y="243840"/>
                </a:moveTo>
                <a:cubicBezTo>
                  <a:pt x="0" y="109220"/>
                  <a:pt x="109220" y="0"/>
                  <a:pt x="243840" y="0"/>
                </a:cubicBezTo>
                <a:lnTo>
                  <a:pt x="4632960" y="0"/>
                </a:lnTo>
                <a:cubicBezTo>
                  <a:pt x="4767580" y="0"/>
                  <a:pt x="4876800" y="109220"/>
                  <a:pt x="4876800" y="243840"/>
                </a:cubicBezTo>
                <a:lnTo>
                  <a:pt x="4876800" y="3657600"/>
                </a:lnTo>
                <a:cubicBezTo>
                  <a:pt x="4876800" y="3792220"/>
                  <a:pt x="4767580" y="3901440"/>
                  <a:pt x="463296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1" name="Google Shape;181;p3"/>
          <p:cNvGrpSpPr/>
          <p:nvPr/>
        </p:nvGrpSpPr>
        <p:grpSpPr>
          <a:xfrm>
            <a:off x="13990320" y="3093244"/>
            <a:ext cx="3108960" cy="1570196"/>
            <a:chOff x="0" y="-142875"/>
            <a:chExt cx="4145280" cy="2093595"/>
          </a:xfrm>
        </p:grpSpPr>
        <p:sp>
          <p:nvSpPr>
            <p:cNvPr id="182" name="Google Shape;182;p3"/>
            <p:cNvSpPr/>
            <p:nvPr/>
          </p:nvSpPr>
          <p:spPr>
            <a:xfrm>
              <a:off x="0" y="0"/>
              <a:ext cx="4145280" cy="1950720"/>
            </a:xfrm>
            <a:custGeom>
              <a:rect b="b" l="l" r="r" t="t"/>
              <a:pathLst>
                <a:path extrusionOk="0" h="1950720" w="4145280">
                  <a:moveTo>
                    <a:pt x="0" y="0"/>
                  </a:moveTo>
                  <a:lnTo>
                    <a:pt x="4145280" y="0"/>
                  </a:lnTo>
                  <a:lnTo>
                    <a:pt x="4145280" y="1950720"/>
                  </a:lnTo>
                  <a:lnTo>
                    <a:pt x="0" y="1950720"/>
                  </a:lnTo>
                  <a:close/>
                </a:path>
              </a:pathLst>
            </a:custGeom>
            <a:blipFill rotWithShape="1">
              <a:blip r:embed="rId3">
                <a:alphaModFix amt="0"/>
              </a:blip>
              <a:stretch>
                <a:fillRect b="0" l="-10378" r="-1037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3"/>
            <p:cNvSpPr txBox="1"/>
            <p:nvPr/>
          </p:nvSpPr>
          <p:spPr>
            <a:xfrm>
              <a:off x="0" y="-142875"/>
              <a:ext cx="414528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30</a:t>
              </a:r>
              <a:endParaRPr/>
            </a:p>
          </p:txBody>
        </p:sp>
      </p:grpSp>
      <p:sp>
        <p:nvSpPr>
          <p:cNvPr id="184" name="Google Shape;184;p3"/>
          <p:cNvSpPr txBox="1"/>
          <p:nvPr/>
        </p:nvSpPr>
        <p:spPr>
          <a:xfrm>
            <a:off x="13990320" y="4596765"/>
            <a:ext cx="310896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missing values in each of 4 columns</a:t>
            </a:r>
            <a:endParaRPr/>
          </a:p>
        </p:txBody>
      </p:sp>
      <p:sp>
        <p:nvSpPr>
          <p:cNvPr id="185" name="Google Shape;185;p3"/>
          <p:cNvSpPr/>
          <p:nvPr/>
        </p:nvSpPr>
        <p:spPr>
          <a:xfrm>
            <a:off x="914400" y="6400800"/>
            <a:ext cx="16459200" cy="2834640"/>
          </a:xfrm>
          <a:custGeom>
            <a:rect b="b" l="l" r="r" t="t"/>
            <a:pathLst>
              <a:path extrusionOk="0" h="3779520" w="21945600">
                <a:moveTo>
                  <a:pt x="0" y="243840"/>
                </a:moveTo>
                <a:cubicBezTo>
                  <a:pt x="0" y="109220"/>
                  <a:pt x="109220" y="0"/>
                  <a:pt x="243840" y="0"/>
                </a:cubicBezTo>
                <a:lnTo>
                  <a:pt x="21701761" y="0"/>
                </a:lnTo>
                <a:cubicBezTo>
                  <a:pt x="21836380" y="0"/>
                  <a:pt x="21945600" y="109220"/>
                  <a:pt x="21945600" y="243840"/>
                </a:cubicBezTo>
                <a:lnTo>
                  <a:pt x="21945600" y="3535680"/>
                </a:lnTo>
                <a:cubicBezTo>
                  <a:pt x="21945600" y="3670300"/>
                  <a:pt x="21836380" y="3779520"/>
                  <a:pt x="21701761" y="3779520"/>
                </a:cubicBezTo>
                <a:lnTo>
                  <a:pt x="243840" y="3779520"/>
                </a:lnTo>
                <a:cubicBezTo>
                  <a:pt x="109220" y="3779520"/>
                  <a:pt x="0" y="3670300"/>
                  <a:pt x="0" y="353568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3"/>
          <p:cNvSpPr/>
          <p:nvPr/>
        </p:nvSpPr>
        <p:spPr>
          <a:xfrm>
            <a:off x="1371600" y="7223760"/>
            <a:ext cx="1188720" cy="1188720"/>
          </a:xfrm>
          <a:custGeom>
            <a:rect b="b" l="l" r="r" t="t"/>
            <a:pathLst>
              <a:path extrusionOk="0" h="1584960" w="1584960">
                <a:moveTo>
                  <a:pt x="0" y="792480"/>
                </a:moveTo>
                <a:cubicBezTo>
                  <a:pt x="0" y="354838"/>
                  <a:pt x="354838" y="0"/>
                  <a:pt x="792480" y="0"/>
                </a:cubicBezTo>
                <a:cubicBezTo>
                  <a:pt x="1230122" y="0"/>
                  <a:pt x="1584960" y="354838"/>
                  <a:pt x="1584960" y="792480"/>
                </a:cubicBezTo>
                <a:cubicBezTo>
                  <a:pt x="1584960" y="1230122"/>
                  <a:pt x="1230122" y="1584960"/>
                  <a:pt x="792480" y="1584960"/>
                </a:cubicBezTo>
                <a:cubicBezTo>
                  <a:pt x="354838" y="1584960"/>
                  <a:pt x="0" y="1230122"/>
                  <a:pt x="0" y="79248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ata icon" id="187" name="Google Shape;187;p3"/>
          <p:cNvSpPr/>
          <p:nvPr/>
        </p:nvSpPr>
        <p:spPr>
          <a:xfrm>
            <a:off x="1668780" y="7520940"/>
            <a:ext cx="594360" cy="594360"/>
          </a:xfrm>
          <a:custGeom>
            <a:rect b="b" l="l" r="r" t="t"/>
            <a:pathLst>
              <a:path extrusionOk="0" h="792480" w="792480">
                <a:moveTo>
                  <a:pt x="0" y="0"/>
                </a:moveTo>
                <a:lnTo>
                  <a:pt x="792480" y="0"/>
                </a:lnTo>
                <a:lnTo>
                  <a:pt x="792480" y="792480"/>
                </a:lnTo>
                <a:lnTo>
                  <a:pt x="0" y="79248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8" name="Google Shape;188;p3"/>
          <p:cNvGrpSpPr/>
          <p:nvPr/>
        </p:nvGrpSpPr>
        <p:grpSpPr>
          <a:xfrm>
            <a:off x="3108960" y="6533674"/>
            <a:ext cx="13898880" cy="2518886"/>
            <a:chOff x="0" y="-66675"/>
            <a:chExt cx="18531840" cy="3358515"/>
          </a:xfrm>
        </p:grpSpPr>
        <p:sp>
          <p:nvSpPr>
            <p:cNvPr id="189" name="Google Shape;189;p3"/>
            <p:cNvSpPr/>
            <p:nvPr/>
          </p:nvSpPr>
          <p:spPr>
            <a:xfrm>
              <a:off x="0" y="0"/>
              <a:ext cx="18531839" cy="3291840"/>
            </a:xfrm>
            <a:custGeom>
              <a:rect b="b" l="l" r="r" t="t"/>
              <a:pathLst>
                <a:path extrusionOk="0" h="3291840" w="18531839">
                  <a:moveTo>
                    <a:pt x="0" y="0"/>
                  </a:moveTo>
                  <a:lnTo>
                    <a:pt x="18531839" y="0"/>
                  </a:lnTo>
                  <a:lnTo>
                    <a:pt x="18531839" y="3291840"/>
                  </a:lnTo>
                  <a:lnTo>
                    <a:pt x="0" y="3291840"/>
                  </a:lnTo>
                  <a:close/>
                </a:path>
              </a:pathLst>
            </a:custGeom>
            <a:blipFill rotWithShape="1">
              <a:blip r:embed="rId3">
                <a:alphaModFix amt="0"/>
              </a:blip>
              <a:stretch>
                <a:fillRect b="-59692" l="0" r="0" t="-5969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3"/>
            <p:cNvSpPr txBox="1"/>
            <p:nvPr/>
          </p:nvSpPr>
          <p:spPr>
            <a:xfrm>
              <a:off x="0" y="-66675"/>
              <a:ext cx="18531840" cy="335851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Target: </a:t>
              </a:r>
              <a:r>
                <a:rPr lang="en-US" sz="2799">
                  <a:solidFill>
                    <a:srgbClr val="1F2430"/>
                  </a:solidFill>
                  <a:latin typeface="Calibri"/>
                  <a:ea typeface="Calibri"/>
                  <a:cs typeface="Calibri"/>
                  <a:sym typeface="Calibri"/>
                </a:rPr>
                <a:t>Delivery_Time_min</a:t>
              </a:r>
              <a:endParaRPr sz="2799">
                <a:solidFill>
                  <a:srgbClr val="1F2430"/>
                </a:solidFill>
                <a:latin typeface="Calibri"/>
                <a:ea typeface="Calibri"/>
                <a:cs typeface="Calibri"/>
                <a:sym typeface="Calibri"/>
              </a:endParaRPr>
            </a:p>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Features: </a:t>
              </a:r>
              <a:r>
                <a:rPr lang="en-US" sz="2799">
                  <a:solidFill>
                    <a:srgbClr val="1F2430"/>
                  </a:solidFill>
                  <a:latin typeface="Calibri"/>
                  <a:ea typeface="Calibri"/>
                  <a:cs typeface="Calibri"/>
                  <a:sym typeface="Calibri"/>
                </a:rPr>
                <a:t>distance, weather, traffic level, time of day, vehicle type, preparation time, courier experience</a:t>
              </a:r>
              <a:endParaRPr/>
            </a:p>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Order_ID is dropped: a unique identifier with no predictive value.</a:t>
              </a:r>
              <a:endParaRPr/>
            </a:p>
          </p:txBody>
        </p:sp>
      </p:grpSp>
      <p:sp>
        <p:nvSpPr>
          <p:cNvPr id="191" name="Google Shape;191;p3"/>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4"/>
          <p:cNvGrpSpPr/>
          <p:nvPr/>
        </p:nvGrpSpPr>
        <p:grpSpPr>
          <a:xfrm>
            <a:off x="914400" y="541496"/>
            <a:ext cx="16459200" cy="1287304"/>
            <a:chOff x="0" y="-9525"/>
            <a:chExt cx="21945600" cy="1716405"/>
          </a:xfrm>
        </p:grpSpPr>
        <p:sp>
          <p:nvSpPr>
            <p:cNvPr id="197" name="Google Shape;197;p4"/>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4"/>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Delivery Time at a Glance</a:t>
              </a:r>
              <a:endParaRPr/>
            </a:p>
          </p:txBody>
        </p:sp>
      </p:grpSp>
      <p:sp>
        <p:nvSpPr>
          <p:cNvPr id="199" name="Google Shape;199;p4"/>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Average delivery takes about 57 minutes, with a long tail up to 153</a:t>
            </a:r>
            <a:endParaRPr/>
          </a:p>
        </p:txBody>
      </p:sp>
      <p:sp>
        <p:nvSpPr>
          <p:cNvPr id="200" name="Google Shape;200;p4"/>
          <p:cNvSpPr/>
          <p:nvPr/>
        </p:nvSpPr>
        <p:spPr>
          <a:xfrm>
            <a:off x="914400" y="2926080"/>
            <a:ext cx="3566160" cy="2926080"/>
          </a:xfrm>
          <a:custGeom>
            <a:rect b="b" l="l" r="r" t="t"/>
            <a:pathLst>
              <a:path extrusionOk="0" h="3901440" w="4754880">
                <a:moveTo>
                  <a:pt x="0" y="243840"/>
                </a:moveTo>
                <a:cubicBezTo>
                  <a:pt x="0" y="109220"/>
                  <a:pt x="109220" y="0"/>
                  <a:pt x="243840" y="0"/>
                </a:cubicBezTo>
                <a:lnTo>
                  <a:pt x="4511040" y="0"/>
                </a:lnTo>
                <a:cubicBezTo>
                  <a:pt x="4645660" y="0"/>
                  <a:pt x="4754880" y="109220"/>
                  <a:pt x="4754880" y="243840"/>
                </a:cubicBezTo>
                <a:lnTo>
                  <a:pt x="4754880" y="3657600"/>
                </a:lnTo>
                <a:cubicBezTo>
                  <a:pt x="4754880" y="3792220"/>
                  <a:pt x="4645660" y="3901440"/>
                  <a:pt x="451104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1" name="Google Shape;201;p4"/>
          <p:cNvGrpSpPr/>
          <p:nvPr/>
        </p:nvGrpSpPr>
        <p:grpSpPr>
          <a:xfrm>
            <a:off x="1188720" y="3093244"/>
            <a:ext cx="3017520" cy="1570196"/>
            <a:chOff x="0" y="-142875"/>
            <a:chExt cx="4023360" cy="2093595"/>
          </a:xfrm>
        </p:grpSpPr>
        <p:sp>
          <p:nvSpPr>
            <p:cNvPr id="202" name="Google Shape;202;p4"/>
            <p:cNvSpPr/>
            <p:nvPr/>
          </p:nvSpPr>
          <p:spPr>
            <a:xfrm>
              <a:off x="0" y="0"/>
              <a:ext cx="4023360" cy="1950720"/>
            </a:xfrm>
            <a:custGeom>
              <a:rect b="b" l="l" r="r" t="t"/>
              <a:pathLst>
                <a:path extrusionOk="0" h="1950720" w="4023360">
                  <a:moveTo>
                    <a:pt x="0" y="0"/>
                  </a:moveTo>
                  <a:lnTo>
                    <a:pt x="4023360" y="0"/>
                  </a:lnTo>
                  <a:lnTo>
                    <a:pt x="4023360" y="1950720"/>
                  </a:lnTo>
                  <a:lnTo>
                    <a:pt x="0" y="1950720"/>
                  </a:lnTo>
                  <a:close/>
                </a:path>
              </a:pathLst>
            </a:custGeom>
            <a:blipFill rotWithShape="1">
              <a:blip r:embed="rId3">
                <a:alphaModFix amt="0"/>
              </a:blip>
              <a:stretch>
                <a:fillRect b="0" l="-12208" r="-122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4"/>
            <p:cNvSpPr txBox="1"/>
            <p:nvPr/>
          </p:nvSpPr>
          <p:spPr>
            <a:xfrm>
              <a:off x="0" y="-142875"/>
              <a:ext cx="402336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56.7</a:t>
              </a:r>
              <a:endParaRPr/>
            </a:p>
          </p:txBody>
        </p:sp>
      </p:grpSp>
      <p:sp>
        <p:nvSpPr>
          <p:cNvPr id="204" name="Google Shape;204;p4"/>
          <p:cNvSpPr txBox="1"/>
          <p:nvPr/>
        </p:nvSpPr>
        <p:spPr>
          <a:xfrm>
            <a:off x="1188720" y="4596765"/>
            <a:ext cx="301752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mean (min)</a:t>
            </a:r>
            <a:endParaRPr/>
          </a:p>
        </p:txBody>
      </p:sp>
      <p:sp>
        <p:nvSpPr>
          <p:cNvPr id="205" name="Google Shape;205;p4"/>
          <p:cNvSpPr/>
          <p:nvPr/>
        </p:nvSpPr>
        <p:spPr>
          <a:xfrm>
            <a:off x="5029200" y="2926080"/>
            <a:ext cx="3566160" cy="2926080"/>
          </a:xfrm>
          <a:custGeom>
            <a:rect b="b" l="l" r="r" t="t"/>
            <a:pathLst>
              <a:path extrusionOk="0" h="3901440" w="4754880">
                <a:moveTo>
                  <a:pt x="0" y="243840"/>
                </a:moveTo>
                <a:cubicBezTo>
                  <a:pt x="0" y="109220"/>
                  <a:pt x="109220" y="0"/>
                  <a:pt x="243840" y="0"/>
                </a:cubicBezTo>
                <a:lnTo>
                  <a:pt x="4511040" y="0"/>
                </a:lnTo>
                <a:cubicBezTo>
                  <a:pt x="4645660" y="0"/>
                  <a:pt x="4754880" y="109220"/>
                  <a:pt x="4754880" y="243840"/>
                </a:cubicBezTo>
                <a:lnTo>
                  <a:pt x="4754880" y="3657600"/>
                </a:lnTo>
                <a:cubicBezTo>
                  <a:pt x="4754880" y="3792220"/>
                  <a:pt x="4645660" y="3901440"/>
                  <a:pt x="451104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6" name="Google Shape;206;p4"/>
          <p:cNvGrpSpPr/>
          <p:nvPr/>
        </p:nvGrpSpPr>
        <p:grpSpPr>
          <a:xfrm>
            <a:off x="5303520" y="3093244"/>
            <a:ext cx="3017520" cy="1570196"/>
            <a:chOff x="0" y="-142875"/>
            <a:chExt cx="4023360" cy="2093595"/>
          </a:xfrm>
        </p:grpSpPr>
        <p:sp>
          <p:nvSpPr>
            <p:cNvPr id="207" name="Google Shape;207;p4"/>
            <p:cNvSpPr/>
            <p:nvPr/>
          </p:nvSpPr>
          <p:spPr>
            <a:xfrm>
              <a:off x="0" y="0"/>
              <a:ext cx="4023360" cy="1950720"/>
            </a:xfrm>
            <a:custGeom>
              <a:rect b="b" l="l" r="r" t="t"/>
              <a:pathLst>
                <a:path extrusionOk="0" h="1950720" w="4023360">
                  <a:moveTo>
                    <a:pt x="0" y="0"/>
                  </a:moveTo>
                  <a:lnTo>
                    <a:pt x="4023360" y="0"/>
                  </a:lnTo>
                  <a:lnTo>
                    <a:pt x="4023360" y="1950720"/>
                  </a:lnTo>
                  <a:lnTo>
                    <a:pt x="0" y="1950720"/>
                  </a:lnTo>
                  <a:close/>
                </a:path>
              </a:pathLst>
            </a:custGeom>
            <a:blipFill rotWithShape="1">
              <a:blip r:embed="rId3">
                <a:alphaModFix amt="0"/>
              </a:blip>
              <a:stretch>
                <a:fillRect b="0" l="-12208" r="-122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4"/>
            <p:cNvSpPr txBox="1"/>
            <p:nvPr/>
          </p:nvSpPr>
          <p:spPr>
            <a:xfrm>
              <a:off x="0" y="-142875"/>
              <a:ext cx="402336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55.5</a:t>
              </a:r>
              <a:endParaRPr/>
            </a:p>
          </p:txBody>
        </p:sp>
      </p:grpSp>
      <p:sp>
        <p:nvSpPr>
          <p:cNvPr id="209" name="Google Shape;209;p4"/>
          <p:cNvSpPr txBox="1"/>
          <p:nvPr/>
        </p:nvSpPr>
        <p:spPr>
          <a:xfrm>
            <a:off x="5303520" y="4596765"/>
            <a:ext cx="301752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median (min)</a:t>
            </a:r>
            <a:endParaRPr/>
          </a:p>
        </p:txBody>
      </p:sp>
      <p:sp>
        <p:nvSpPr>
          <p:cNvPr id="210" name="Google Shape;210;p4"/>
          <p:cNvSpPr/>
          <p:nvPr/>
        </p:nvSpPr>
        <p:spPr>
          <a:xfrm>
            <a:off x="914400" y="6400800"/>
            <a:ext cx="3566160" cy="2926080"/>
          </a:xfrm>
          <a:custGeom>
            <a:rect b="b" l="l" r="r" t="t"/>
            <a:pathLst>
              <a:path extrusionOk="0" h="3901440" w="4754880">
                <a:moveTo>
                  <a:pt x="0" y="243840"/>
                </a:moveTo>
                <a:cubicBezTo>
                  <a:pt x="0" y="109220"/>
                  <a:pt x="109220" y="0"/>
                  <a:pt x="243840" y="0"/>
                </a:cubicBezTo>
                <a:lnTo>
                  <a:pt x="4511040" y="0"/>
                </a:lnTo>
                <a:cubicBezTo>
                  <a:pt x="4645660" y="0"/>
                  <a:pt x="4754880" y="109220"/>
                  <a:pt x="4754880" y="243840"/>
                </a:cubicBezTo>
                <a:lnTo>
                  <a:pt x="4754880" y="3657600"/>
                </a:lnTo>
                <a:cubicBezTo>
                  <a:pt x="4754880" y="3792220"/>
                  <a:pt x="4645660" y="3901440"/>
                  <a:pt x="451104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1" name="Google Shape;211;p4"/>
          <p:cNvGrpSpPr/>
          <p:nvPr/>
        </p:nvGrpSpPr>
        <p:grpSpPr>
          <a:xfrm>
            <a:off x="1188720" y="6567964"/>
            <a:ext cx="3017520" cy="1570196"/>
            <a:chOff x="0" y="-142875"/>
            <a:chExt cx="4023360" cy="2093595"/>
          </a:xfrm>
        </p:grpSpPr>
        <p:sp>
          <p:nvSpPr>
            <p:cNvPr id="212" name="Google Shape;212;p4"/>
            <p:cNvSpPr/>
            <p:nvPr/>
          </p:nvSpPr>
          <p:spPr>
            <a:xfrm>
              <a:off x="0" y="0"/>
              <a:ext cx="4023360" cy="1950720"/>
            </a:xfrm>
            <a:custGeom>
              <a:rect b="b" l="l" r="r" t="t"/>
              <a:pathLst>
                <a:path extrusionOk="0" h="1950720" w="4023360">
                  <a:moveTo>
                    <a:pt x="0" y="0"/>
                  </a:moveTo>
                  <a:lnTo>
                    <a:pt x="4023360" y="0"/>
                  </a:lnTo>
                  <a:lnTo>
                    <a:pt x="4023360" y="1950720"/>
                  </a:lnTo>
                  <a:lnTo>
                    <a:pt x="0" y="1950720"/>
                  </a:lnTo>
                  <a:close/>
                </a:path>
              </a:pathLst>
            </a:custGeom>
            <a:blipFill rotWithShape="1">
              <a:blip r:embed="rId3">
                <a:alphaModFix amt="0"/>
              </a:blip>
              <a:stretch>
                <a:fillRect b="0" l="-12208" r="-122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4"/>
            <p:cNvSpPr txBox="1"/>
            <p:nvPr/>
          </p:nvSpPr>
          <p:spPr>
            <a:xfrm>
              <a:off x="0" y="-142875"/>
              <a:ext cx="402336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22.1</a:t>
              </a:r>
              <a:endParaRPr/>
            </a:p>
          </p:txBody>
        </p:sp>
      </p:grpSp>
      <p:sp>
        <p:nvSpPr>
          <p:cNvPr id="214" name="Google Shape;214;p4"/>
          <p:cNvSpPr txBox="1"/>
          <p:nvPr/>
        </p:nvSpPr>
        <p:spPr>
          <a:xfrm>
            <a:off x="1188720" y="8071485"/>
            <a:ext cx="301752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standard deviation</a:t>
            </a:r>
            <a:endParaRPr/>
          </a:p>
        </p:txBody>
      </p:sp>
      <p:sp>
        <p:nvSpPr>
          <p:cNvPr id="215" name="Google Shape;215;p4"/>
          <p:cNvSpPr/>
          <p:nvPr/>
        </p:nvSpPr>
        <p:spPr>
          <a:xfrm>
            <a:off x="5029200" y="6400800"/>
            <a:ext cx="3566160" cy="2926080"/>
          </a:xfrm>
          <a:custGeom>
            <a:rect b="b" l="l" r="r" t="t"/>
            <a:pathLst>
              <a:path extrusionOk="0" h="3901440" w="4754880">
                <a:moveTo>
                  <a:pt x="0" y="243840"/>
                </a:moveTo>
                <a:cubicBezTo>
                  <a:pt x="0" y="109220"/>
                  <a:pt x="109220" y="0"/>
                  <a:pt x="243840" y="0"/>
                </a:cubicBezTo>
                <a:lnTo>
                  <a:pt x="4511040" y="0"/>
                </a:lnTo>
                <a:cubicBezTo>
                  <a:pt x="4645660" y="0"/>
                  <a:pt x="4754880" y="109220"/>
                  <a:pt x="4754880" y="243840"/>
                </a:cubicBezTo>
                <a:lnTo>
                  <a:pt x="4754880" y="3657600"/>
                </a:lnTo>
                <a:cubicBezTo>
                  <a:pt x="4754880" y="3792220"/>
                  <a:pt x="4645660" y="3901440"/>
                  <a:pt x="451104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6" name="Google Shape;216;p4"/>
          <p:cNvGrpSpPr/>
          <p:nvPr/>
        </p:nvGrpSpPr>
        <p:grpSpPr>
          <a:xfrm>
            <a:off x="5303520" y="6567964"/>
            <a:ext cx="3017520" cy="1570196"/>
            <a:chOff x="0" y="-142875"/>
            <a:chExt cx="4023360" cy="2093595"/>
          </a:xfrm>
        </p:grpSpPr>
        <p:sp>
          <p:nvSpPr>
            <p:cNvPr id="217" name="Google Shape;217;p4"/>
            <p:cNvSpPr/>
            <p:nvPr/>
          </p:nvSpPr>
          <p:spPr>
            <a:xfrm>
              <a:off x="0" y="0"/>
              <a:ext cx="4023360" cy="1950720"/>
            </a:xfrm>
            <a:custGeom>
              <a:rect b="b" l="l" r="r" t="t"/>
              <a:pathLst>
                <a:path extrusionOk="0" h="1950720" w="4023360">
                  <a:moveTo>
                    <a:pt x="0" y="0"/>
                  </a:moveTo>
                  <a:lnTo>
                    <a:pt x="4023360" y="0"/>
                  </a:lnTo>
                  <a:lnTo>
                    <a:pt x="4023360" y="1950720"/>
                  </a:lnTo>
                  <a:lnTo>
                    <a:pt x="0" y="1950720"/>
                  </a:lnTo>
                  <a:close/>
                </a:path>
              </a:pathLst>
            </a:custGeom>
            <a:blipFill rotWithShape="1">
              <a:blip r:embed="rId3">
                <a:alphaModFix amt="0"/>
              </a:blip>
              <a:stretch>
                <a:fillRect b="0" l="-12208" r="-122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4"/>
            <p:cNvSpPr txBox="1"/>
            <p:nvPr/>
          </p:nvSpPr>
          <p:spPr>
            <a:xfrm>
              <a:off x="0" y="-142875"/>
              <a:ext cx="402336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153</a:t>
              </a:r>
              <a:endParaRPr/>
            </a:p>
          </p:txBody>
        </p:sp>
      </p:grpSp>
      <p:sp>
        <p:nvSpPr>
          <p:cNvPr id="219" name="Google Shape;219;p4"/>
          <p:cNvSpPr txBox="1"/>
          <p:nvPr/>
        </p:nvSpPr>
        <p:spPr>
          <a:xfrm>
            <a:off x="5303520" y="8071485"/>
            <a:ext cx="301752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longest delivery (min)</a:t>
            </a:r>
            <a:endParaRPr/>
          </a:p>
        </p:txBody>
      </p:sp>
      <p:pic>
        <p:nvPicPr>
          <p:cNvPr id="220" name="Google Shape;220;p4"/>
          <p:cNvPicPr preferRelativeResize="0"/>
          <p:nvPr/>
        </p:nvPicPr>
        <p:blipFill rotWithShape="1">
          <a:blip r:embed="rId4">
            <a:alphaModFix/>
          </a:blip>
          <a:srcRect b="0" l="0" r="0" t="0"/>
          <a:stretch/>
        </p:blipFill>
        <p:spPr>
          <a:xfrm>
            <a:off x="8651919" y="2372981"/>
            <a:ext cx="9539500" cy="7379974"/>
          </a:xfrm>
          <a:prstGeom prst="rect">
            <a:avLst/>
          </a:prstGeom>
          <a:noFill/>
          <a:ln>
            <a:noFill/>
          </a:ln>
        </p:spPr>
      </p:pic>
      <p:sp>
        <p:nvSpPr>
          <p:cNvPr id="221" name="Google Shape;221;p4"/>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grpSp>
        <p:nvGrpSpPr>
          <p:cNvPr id="226" name="Google Shape;226;p5"/>
          <p:cNvGrpSpPr/>
          <p:nvPr/>
        </p:nvGrpSpPr>
        <p:grpSpPr>
          <a:xfrm>
            <a:off x="914400" y="541496"/>
            <a:ext cx="16459200" cy="1287304"/>
            <a:chOff x="0" y="-9525"/>
            <a:chExt cx="21945600" cy="1716405"/>
          </a:xfrm>
        </p:grpSpPr>
        <p:sp>
          <p:nvSpPr>
            <p:cNvPr id="227" name="Google Shape;227;p5"/>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5"/>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What Drives Delivery Time</a:t>
              </a:r>
              <a:endParaRPr/>
            </a:p>
          </p:txBody>
        </p:sp>
      </p:grpSp>
      <p:sp>
        <p:nvSpPr>
          <p:cNvPr id="229" name="Google Shape;229;p5"/>
          <p:cNvSpPr/>
          <p:nvPr/>
        </p:nvSpPr>
        <p:spPr>
          <a:xfrm>
            <a:off x="9692640" y="310896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sight 1 icon" id="230" name="Google Shape;230;p5"/>
          <p:cNvSpPr/>
          <p:nvPr/>
        </p:nvSpPr>
        <p:spPr>
          <a:xfrm>
            <a:off x="9966960" y="3383280"/>
            <a:ext cx="548640" cy="548640"/>
          </a:xfrm>
          <a:custGeom>
            <a:rect b="b" l="l" r="r" t="t"/>
            <a:pathLst>
              <a:path extrusionOk="0" h="731520" w="731520">
                <a:moveTo>
                  <a:pt x="0" y="0"/>
                </a:moveTo>
                <a:lnTo>
                  <a:pt x="731520" y="0"/>
                </a:lnTo>
                <a:lnTo>
                  <a:pt x="731520" y="731520"/>
                </a:lnTo>
                <a:lnTo>
                  <a:pt x="0" y="73152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1" name="Google Shape;231;p5"/>
          <p:cNvGrpSpPr/>
          <p:nvPr/>
        </p:nvGrpSpPr>
        <p:grpSpPr>
          <a:xfrm>
            <a:off x="11155680" y="2876074"/>
            <a:ext cx="6217920" cy="1878806"/>
            <a:chOff x="0" y="-66675"/>
            <a:chExt cx="8290560" cy="2505075"/>
          </a:xfrm>
        </p:grpSpPr>
        <p:sp>
          <p:nvSpPr>
            <p:cNvPr id="232" name="Google Shape;232;p5"/>
            <p:cNvSpPr/>
            <p:nvPr/>
          </p:nvSpPr>
          <p:spPr>
            <a:xfrm>
              <a:off x="0" y="0"/>
              <a:ext cx="8290560" cy="2438400"/>
            </a:xfrm>
            <a:custGeom>
              <a:rect b="b" l="l" r="r" t="t"/>
              <a:pathLst>
                <a:path extrusionOk="0" h="2438400" w="8290560">
                  <a:moveTo>
                    <a:pt x="0" y="0"/>
                  </a:moveTo>
                  <a:lnTo>
                    <a:pt x="8290560" y="0"/>
                  </a:lnTo>
                  <a:lnTo>
                    <a:pt x="8290560" y="2438400"/>
                  </a:lnTo>
                  <a:lnTo>
                    <a:pt x="0" y="2438400"/>
                  </a:lnTo>
                  <a:close/>
                </a:path>
              </a:pathLst>
            </a:custGeom>
            <a:blipFill rotWithShape="1">
              <a:blip r:embed="rId3">
                <a:alphaModFix amt="0"/>
              </a:blip>
              <a:stretch>
                <a:fillRect b="-16250" l="0" r="0" t="-1625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5"/>
            <p:cNvSpPr txBox="1"/>
            <p:nvPr/>
          </p:nvSpPr>
          <p:spPr>
            <a:xfrm>
              <a:off x="0" y="-66675"/>
              <a:ext cx="8290560" cy="25050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Distance: </a:t>
              </a:r>
              <a:r>
                <a:rPr lang="en-US" sz="2799">
                  <a:solidFill>
                    <a:srgbClr val="1F2430"/>
                  </a:solidFill>
                  <a:latin typeface="Calibri"/>
                  <a:ea typeface="Calibri"/>
                  <a:cs typeface="Calibri"/>
                  <a:sym typeface="Calibri"/>
                </a:rPr>
                <a:t>r = 0.78, so longer trips take clearly longer.</a:t>
              </a:r>
              <a:endParaRPr/>
            </a:p>
          </p:txBody>
        </p:sp>
      </p:grpSp>
      <p:sp>
        <p:nvSpPr>
          <p:cNvPr id="234" name="Google Shape;234;p5"/>
          <p:cNvSpPr/>
          <p:nvPr/>
        </p:nvSpPr>
        <p:spPr>
          <a:xfrm>
            <a:off x="9692640" y="521208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sight 2 icon" id="235" name="Google Shape;235;p5"/>
          <p:cNvSpPr/>
          <p:nvPr/>
        </p:nvSpPr>
        <p:spPr>
          <a:xfrm>
            <a:off x="9966960" y="5486400"/>
            <a:ext cx="548640" cy="548640"/>
          </a:xfrm>
          <a:custGeom>
            <a:rect b="b" l="l" r="r" t="t"/>
            <a:pathLst>
              <a:path extrusionOk="0" h="731520" w="731520">
                <a:moveTo>
                  <a:pt x="0" y="0"/>
                </a:moveTo>
                <a:lnTo>
                  <a:pt x="731520" y="0"/>
                </a:lnTo>
                <a:lnTo>
                  <a:pt x="731520" y="731520"/>
                </a:lnTo>
                <a:lnTo>
                  <a:pt x="0" y="7315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6" name="Google Shape;236;p5"/>
          <p:cNvGrpSpPr/>
          <p:nvPr/>
        </p:nvGrpSpPr>
        <p:grpSpPr>
          <a:xfrm>
            <a:off x="11155680" y="4979194"/>
            <a:ext cx="6217920" cy="1878806"/>
            <a:chOff x="0" y="-66675"/>
            <a:chExt cx="8290560" cy="2505075"/>
          </a:xfrm>
        </p:grpSpPr>
        <p:sp>
          <p:nvSpPr>
            <p:cNvPr id="237" name="Google Shape;237;p5"/>
            <p:cNvSpPr/>
            <p:nvPr/>
          </p:nvSpPr>
          <p:spPr>
            <a:xfrm>
              <a:off x="0" y="0"/>
              <a:ext cx="8290560" cy="2438400"/>
            </a:xfrm>
            <a:custGeom>
              <a:rect b="b" l="l" r="r" t="t"/>
              <a:pathLst>
                <a:path extrusionOk="0" h="2438400" w="8290560">
                  <a:moveTo>
                    <a:pt x="0" y="0"/>
                  </a:moveTo>
                  <a:lnTo>
                    <a:pt x="8290560" y="0"/>
                  </a:lnTo>
                  <a:lnTo>
                    <a:pt x="8290560" y="2438400"/>
                  </a:lnTo>
                  <a:lnTo>
                    <a:pt x="0" y="2438400"/>
                  </a:lnTo>
                  <a:close/>
                </a:path>
              </a:pathLst>
            </a:custGeom>
            <a:blipFill rotWithShape="1">
              <a:blip r:embed="rId3">
                <a:alphaModFix amt="0"/>
              </a:blip>
              <a:stretch>
                <a:fillRect b="-16250" l="0" r="0" t="-1625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5"/>
            <p:cNvSpPr txBox="1"/>
            <p:nvPr/>
          </p:nvSpPr>
          <p:spPr>
            <a:xfrm>
              <a:off x="0" y="-66675"/>
              <a:ext cx="8290560" cy="25050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Conditions: </a:t>
              </a:r>
              <a:r>
                <a:rPr lang="en-US" sz="2799">
                  <a:solidFill>
                    <a:srgbClr val="1F2430"/>
                  </a:solidFill>
                  <a:latin typeface="Calibri"/>
                  <a:ea typeface="Calibri"/>
                  <a:cs typeface="Calibri"/>
                  <a:sym typeface="Calibri"/>
                </a:rPr>
                <a:t>Snowy weather and high traffic have the highest medians (66 and 65 min vs 52 and 51 for Clear and Low).</a:t>
              </a:r>
              <a:endParaRPr/>
            </a:p>
          </p:txBody>
        </p:sp>
      </p:grpSp>
      <p:sp>
        <p:nvSpPr>
          <p:cNvPr id="239" name="Google Shape;239;p5"/>
          <p:cNvSpPr/>
          <p:nvPr/>
        </p:nvSpPr>
        <p:spPr>
          <a:xfrm>
            <a:off x="9692640" y="731520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sight 3 icon" id="240" name="Google Shape;240;p5"/>
          <p:cNvSpPr/>
          <p:nvPr/>
        </p:nvSpPr>
        <p:spPr>
          <a:xfrm>
            <a:off x="9966960" y="7589520"/>
            <a:ext cx="548640" cy="548640"/>
          </a:xfrm>
          <a:custGeom>
            <a:rect b="b" l="l" r="r" t="t"/>
            <a:pathLst>
              <a:path extrusionOk="0" h="731520" w="731520">
                <a:moveTo>
                  <a:pt x="0" y="0"/>
                </a:moveTo>
                <a:lnTo>
                  <a:pt x="731520" y="0"/>
                </a:lnTo>
                <a:lnTo>
                  <a:pt x="731520" y="731520"/>
                </a:lnTo>
                <a:lnTo>
                  <a:pt x="0" y="73152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1" name="Google Shape;241;p5"/>
          <p:cNvGrpSpPr/>
          <p:nvPr/>
        </p:nvGrpSpPr>
        <p:grpSpPr>
          <a:xfrm>
            <a:off x="11155680" y="7082314"/>
            <a:ext cx="6217920" cy="1878806"/>
            <a:chOff x="0" y="-66675"/>
            <a:chExt cx="8290560" cy="2505075"/>
          </a:xfrm>
        </p:grpSpPr>
        <p:sp>
          <p:nvSpPr>
            <p:cNvPr id="242" name="Google Shape;242;p5"/>
            <p:cNvSpPr/>
            <p:nvPr/>
          </p:nvSpPr>
          <p:spPr>
            <a:xfrm>
              <a:off x="0" y="0"/>
              <a:ext cx="8290560" cy="2438400"/>
            </a:xfrm>
            <a:custGeom>
              <a:rect b="b" l="l" r="r" t="t"/>
              <a:pathLst>
                <a:path extrusionOk="0" h="2438400" w="8290560">
                  <a:moveTo>
                    <a:pt x="0" y="0"/>
                  </a:moveTo>
                  <a:lnTo>
                    <a:pt x="8290560" y="0"/>
                  </a:lnTo>
                  <a:lnTo>
                    <a:pt x="8290560" y="2438400"/>
                  </a:lnTo>
                  <a:lnTo>
                    <a:pt x="0" y="2438400"/>
                  </a:lnTo>
                  <a:close/>
                </a:path>
              </a:pathLst>
            </a:custGeom>
            <a:blipFill rotWithShape="1">
              <a:blip r:embed="rId3">
                <a:alphaModFix amt="0"/>
              </a:blip>
              <a:stretch>
                <a:fillRect b="-16250" l="0" r="0" t="-1625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5"/>
            <p:cNvSpPr txBox="1"/>
            <p:nvPr/>
          </p:nvSpPr>
          <p:spPr>
            <a:xfrm>
              <a:off x="0" y="-66675"/>
              <a:ext cx="8290560" cy="25050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Little effect: </a:t>
              </a:r>
              <a:r>
                <a:rPr lang="en-US" sz="2799">
                  <a:solidFill>
                    <a:srgbClr val="1F2430"/>
                  </a:solidFill>
                  <a:latin typeface="Calibri"/>
                  <a:ea typeface="Calibri"/>
                  <a:cs typeface="Calibri"/>
                  <a:sym typeface="Calibri"/>
                </a:rPr>
                <a:t>vehicle type and time of day barely shift delivery time.</a:t>
              </a:r>
              <a:endParaRPr/>
            </a:p>
          </p:txBody>
        </p:sp>
      </p:grpSp>
      <p:sp>
        <p:nvSpPr>
          <p:cNvPr id="244" name="Google Shape;244;p5"/>
          <p:cNvSpPr/>
          <p:nvPr/>
        </p:nvSpPr>
        <p:spPr>
          <a:xfrm>
            <a:off x="914400" y="2926080"/>
            <a:ext cx="8065257" cy="5727501"/>
          </a:xfrm>
          <a:custGeom>
            <a:rect b="b" l="l" r="r" t="t"/>
            <a:pathLst>
              <a:path extrusionOk="0" h="5727501" w="8065257">
                <a:moveTo>
                  <a:pt x="0" y="0"/>
                </a:moveTo>
                <a:lnTo>
                  <a:pt x="8065257" y="0"/>
                </a:lnTo>
                <a:lnTo>
                  <a:pt x="8065257" y="5727501"/>
                </a:lnTo>
                <a:lnTo>
                  <a:pt x="0" y="572750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5"/>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Distance is by far the strongest signal</a:t>
            </a:r>
            <a:endParaRPr/>
          </a:p>
        </p:txBody>
      </p:sp>
      <p:sp>
        <p:nvSpPr>
          <p:cNvPr id="246" name="Google Shape;246;p5"/>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pSp>
        <p:nvGrpSpPr>
          <p:cNvPr id="251" name="Google Shape;251;p6"/>
          <p:cNvGrpSpPr/>
          <p:nvPr/>
        </p:nvGrpSpPr>
        <p:grpSpPr>
          <a:xfrm>
            <a:off x="914400" y="541496"/>
            <a:ext cx="16459200" cy="1287304"/>
            <a:chOff x="0" y="-9525"/>
            <a:chExt cx="21945600" cy="1716405"/>
          </a:xfrm>
        </p:grpSpPr>
        <p:sp>
          <p:nvSpPr>
            <p:cNvPr id="252" name="Google Shape;252;p6"/>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6"/>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Data Preparation</a:t>
              </a:r>
              <a:endParaRPr/>
            </a:p>
          </p:txBody>
        </p:sp>
      </p:grpSp>
      <p:sp>
        <p:nvSpPr>
          <p:cNvPr id="254" name="Google Shape;254;p6"/>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Split first, then clean using training statistics only, to prevent data leakage</a:t>
            </a:r>
            <a:endParaRPr/>
          </a:p>
        </p:txBody>
      </p:sp>
      <p:sp>
        <p:nvSpPr>
          <p:cNvPr id="255" name="Google Shape;255;p6"/>
          <p:cNvSpPr/>
          <p:nvPr/>
        </p:nvSpPr>
        <p:spPr>
          <a:xfrm>
            <a:off x="914400" y="3017520"/>
            <a:ext cx="5120640" cy="6035040"/>
          </a:xfrm>
          <a:custGeom>
            <a:rect b="b" l="l" r="r" t="t"/>
            <a:pathLst>
              <a:path extrusionOk="0" h="8046720" w="6827520">
                <a:moveTo>
                  <a:pt x="0" y="243840"/>
                </a:moveTo>
                <a:cubicBezTo>
                  <a:pt x="0" y="109220"/>
                  <a:pt x="109220" y="0"/>
                  <a:pt x="243840" y="0"/>
                </a:cubicBezTo>
                <a:lnTo>
                  <a:pt x="6583680" y="0"/>
                </a:lnTo>
                <a:cubicBezTo>
                  <a:pt x="6718300" y="0"/>
                  <a:pt x="6827520" y="109220"/>
                  <a:pt x="6827520" y="243840"/>
                </a:cubicBezTo>
                <a:lnTo>
                  <a:pt x="6827520" y="7802880"/>
                </a:lnTo>
                <a:cubicBezTo>
                  <a:pt x="6827520" y="7937500"/>
                  <a:pt x="6718300" y="8046720"/>
                  <a:pt x="6583680" y="8046720"/>
                </a:cubicBezTo>
                <a:lnTo>
                  <a:pt x="243840" y="8046720"/>
                </a:lnTo>
                <a:cubicBezTo>
                  <a:pt x="109220" y="8046720"/>
                  <a:pt x="0" y="7937500"/>
                  <a:pt x="0" y="780288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6"/>
          <p:cNvSpPr/>
          <p:nvPr/>
        </p:nvSpPr>
        <p:spPr>
          <a:xfrm>
            <a:off x="1371600" y="347472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7" name="Google Shape;257;p6"/>
          <p:cNvGrpSpPr/>
          <p:nvPr/>
        </p:nvGrpSpPr>
        <p:grpSpPr>
          <a:xfrm>
            <a:off x="1371600" y="3410426"/>
            <a:ext cx="1097280" cy="1161574"/>
            <a:chOff x="0" y="-85725"/>
            <a:chExt cx="1463040" cy="1548765"/>
          </a:xfrm>
        </p:grpSpPr>
        <p:sp>
          <p:nvSpPr>
            <p:cNvPr id="258" name="Google Shape;258;p6"/>
            <p:cNvSpPr/>
            <p:nvPr/>
          </p:nvSpPr>
          <p:spPr>
            <a:xfrm>
              <a:off x="0" y="0"/>
              <a:ext cx="1463040" cy="1463040"/>
            </a:xfrm>
            <a:custGeom>
              <a:rect b="b" l="l" r="r" t="t"/>
              <a:pathLst>
                <a:path extrusionOk="0" h="1463040" w="1463040">
                  <a:moveTo>
                    <a:pt x="0" y="0"/>
                  </a:moveTo>
                  <a:lnTo>
                    <a:pt x="1463040" y="0"/>
                  </a:lnTo>
                  <a:lnTo>
                    <a:pt x="1463040" y="1463040"/>
                  </a:lnTo>
                  <a:lnTo>
                    <a:pt x="0" y="1463040"/>
                  </a:lnTo>
                  <a:close/>
                </a:path>
              </a:pathLst>
            </a:custGeom>
            <a:blipFill rotWithShape="1">
              <a:blip r:embed="rId3">
                <a:alphaModFix amt="0"/>
              </a:blip>
              <a:stretch>
                <a:fillRect b="0"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6"/>
            <p:cNvSpPr txBox="1"/>
            <p:nvPr/>
          </p:nvSpPr>
          <p:spPr>
            <a:xfrm>
              <a:off x="0" y="-85725"/>
              <a:ext cx="1463040" cy="1548765"/>
            </a:xfrm>
            <a:prstGeom prst="rect">
              <a:avLst/>
            </a:prstGeom>
            <a:noFill/>
            <a:ln>
              <a:noFill/>
            </a:ln>
          </p:spPr>
          <p:txBody>
            <a:bodyPr anchorCtr="0" anchor="ctr" bIns="0" lIns="0" spcFirstLastPara="1" rIns="0" wrap="square" tIns="0">
              <a:noAutofit/>
            </a:bodyPr>
            <a:lstStyle/>
            <a:p>
              <a:pPr indent="0" lvl="0" marL="0" marR="0" rtl="0" algn="ctr">
                <a:lnSpc>
                  <a:spcPct val="120005"/>
                </a:lnSpc>
                <a:spcBef>
                  <a:spcPts val="0"/>
                </a:spcBef>
                <a:spcAft>
                  <a:spcPts val="0"/>
                </a:spcAft>
                <a:buNone/>
              </a:pPr>
              <a:r>
                <a:rPr b="1" lang="en-US" sz="3999">
                  <a:solidFill>
                    <a:srgbClr val="FFFFFF"/>
                  </a:solidFill>
                  <a:latin typeface="Calibri"/>
                  <a:ea typeface="Calibri"/>
                  <a:cs typeface="Calibri"/>
                  <a:sym typeface="Calibri"/>
                </a:rPr>
                <a:t>1</a:t>
              </a:r>
              <a:endParaRPr/>
            </a:p>
          </p:txBody>
        </p:sp>
      </p:grpSp>
      <p:grpSp>
        <p:nvGrpSpPr>
          <p:cNvPr id="260" name="Google Shape;260;p6"/>
          <p:cNvGrpSpPr/>
          <p:nvPr/>
        </p:nvGrpSpPr>
        <p:grpSpPr>
          <a:xfrm>
            <a:off x="1371600" y="4796314"/>
            <a:ext cx="4206240" cy="781526"/>
            <a:chOff x="0" y="-66675"/>
            <a:chExt cx="5608320" cy="1042035"/>
          </a:xfrm>
        </p:grpSpPr>
        <p:sp>
          <p:nvSpPr>
            <p:cNvPr id="261" name="Google Shape;261;p6"/>
            <p:cNvSpPr/>
            <p:nvPr/>
          </p:nvSpPr>
          <p:spPr>
            <a:xfrm>
              <a:off x="0" y="0"/>
              <a:ext cx="5608320" cy="975360"/>
            </a:xfrm>
            <a:custGeom>
              <a:rect b="b" l="l" r="r" t="t"/>
              <a:pathLst>
                <a:path extrusionOk="0" h="975360" w="5608320">
                  <a:moveTo>
                    <a:pt x="0" y="0"/>
                  </a:moveTo>
                  <a:lnTo>
                    <a:pt x="5608320" y="0"/>
                  </a:lnTo>
                  <a:lnTo>
                    <a:pt x="5608320" y="975360"/>
                  </a:lnTo>
                  <a:lnTo>
                    <a:pt x="0" y="975360"/>
                  </a:lnTo>
                  <a:close/>
                </a:path>
              </a:pathLst>
            </a:custGeom>
            <a:blipFill rotWithShape="1">
              <a:blip r:embed="rId3">
                <a:alphaModFix amt="0"/>
              </a:blip>
              <a:stretch>
                <a:fillRect b="-62037" l="0" r="0" t="-620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6"/>
            <p:cNvSpPr txBox="1"/>
            <p:nvPr/>
          </p:nvSpPr>
          <p:spPr>
            <a:xfrm>
              <a:off x="0" y="-66675"/>
              <a:ext cx="5608320" cy="1042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600">
                  <a:solidFill>
                    <a:srgbClr val="1F2430"/>
                  </a:solidFill>
                  <a:latin typeface="Calibri"/>
                  <a:ea typeface="Calibri"/>
                  <a:cs typeface="Calibri"/>
                  <a:sym typeface="Calibri"/>
                </a:rPr>
                <a:t>Split first</a:t>
              </a:r>
              <a:endParaRPr/>
            </a:p>
          </p:txBody>
        </p:sp>
      </p:grpSp>
      <p:sp>
        <p:nvSpPr>
          <p:cNvPr id="263" name="Google Shape;263;p6"/>
          <p:cNvSpPr txBox="1"/>
          <p:nvPr/>
        </p:nvSpPr>
        <p:spPr>
          <a:xfrm>
            <a:off x="1371600" y="5694045"/>
            <a:ext cx="4206240" cy="308419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80/20 split (800 train, 200 test, random_state = 42) before any cleaning, so test data never influences preprocessing.</a:t>
            </a:r>
            <a:endParaRPr/>
          </a:p>
        </p:txBody>
      </p:sp>
      <p:sp>
        <p:nvSpPr>
          <p:cNvPr id="264" name="Google Shape;264;p6"/>
          <p:cNvSpPr/>
          <p:nvPr/>
        </p:nvSpPr>
        <p:spPr>
          <a:xfrm>
            <a:off x="6583680" y="3017520"/>
            <a:ext cx="5120640" cy="6035040"/>
          </a:xfrm>
          <a:custGeom>
            <a:rect b="b" l="l" r="r" t="t"/>
            <a:pathLst>
              <a:path extrusionOk="0" h="8046720" w="6827520">
                <a:moveTo>
                  <a:pt x="0" y="243840"/>
                </a:moveTo>
                <a:cubicBezTo>
                  <a:pt x="0" y="109220"/>
                  <a:pt x="109220" y="0"/>
                  <a:pt x="243840" y="0"/>
                </a:cubicBezTo>
                <a:lnTo>
                  <a:pt x="6583680" y="0"/>
                </a:lnTo>
                <a:cubicBezTo>
                  <a:pt x="6718300" y="0"/>
                  <a:pt x="6827520" y="109220"/>
                  <a:pt x="6827520" y="243840"/>
                </a:cubicBezTo>
                <a:lnTo>
                  <a:pt x="6827520" y="7802880"/>
                </a:lnTo>
                <a:cubicBezTo>
                  <a:pt x="6827520" y="7937500"/>
                  <a:pt x="6718300" y="8046720"/>
                  <a:pt x="6583680" y="8046720"/>
                </a:cubicBezTo>
                <a:lnTo>
                  <a:pt x="243840" y="8046720"/>
                </a:lnTo>
                <a:cubicBezTo>
                  <a:pt x="109220" y="8046720"/>
                  <a:pt x="0" y="7937500"/>
                  <a:pt x="0" y="780288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6"/>
          <p:cNvSpPr/>
          <p:nvPr/>
        </p:nvSpPr>
        <p:spPr>
          <a:xfrm>
            <a:off x="7040880" y="347472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6" name="Google Shape;266;p6"/>
          <p:cNvGrpSpPr/>
          <p:nvPr/>
        </p:nvGrpSpPr>
        <p:grpSpPr>
          <a:xfrm>
            <a:off x="7040880" y="3410426"/>
            <a:ext cx="1097280" cy="1161574"/>
            <a:chOff x="0" y="-85725"/>
            <a:chExt cx="1463040" cy="1548765"/>
          </a:xfrm>
        </p:grpSpPr>
        <p:sp>
          <p:nvSpPr>
            <p:cNvPr id="267" name="Google Shape;267;p6"/>
            <p:cNvSpPr/>
            <p:nvPr/>
          </p:nvSpPr>
          <p:spPr>
            <a:xfrm>
              <a:off x="0" y="0"/>
              <a:ext cx="1463040" cy="1463040"/>
            </a:xfrm>
            <a:custGeom>
              <a:rect b="b" l="l" r="r" t="t"/>
              <a:pathLst>
                <a:path extrusionOk="0" h="1463040" w="1463040">
                  <a:moveTo>
                    <a:pt x="0" y="0"/>
                  </a:moveTo>
                  <a:lnTo>
                    <a:pt x="1463040" y="0"/>
                  </a:lnTo>
                  <a:lnTo>
                    <a:pt x="1463040" y="1463040"/>
                  </a:lnTo>
                  <a:lnTo>
                    <a:pt x="0" y="1463040"/>
                  </a:lnTo>
                  <a:close/>
                </a:path>
              </a:pathLst>
            </a:custGeom>
            <a:blipFill rotWithShape="1">
              <a:blip r:embed="rId3">
                <a:alphaModFix amt="0"/>
              </a:blip>
              <a:stretch>
                <a:fillRect b="0"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6"/>
            <p:cNvSpPr txBox="1"/>
            <p:nvPr/>
          </p:nvSpPr>
          <p:spPr>
            <a:xfrm>
              <a:off x="0" y="-85725"/>
              <a:ext cx="1463040" cy="1548765"/>
            </a:xfrm>
            <a:prstGeom prst="rect">
              <a:avLst/>
            </a:prstGeom>
            <a:noFill/>
            <a:ln>
              <a:noFill/>
            </a:ln>
          </p:spPr>
          <p:txBody>
            <a:bodyPr anchorCtr="0" anchor="ctr" bIns="0" lIns="0" spcFirstLastPara="1" rIns="0" wrap="square" tIns="0">
              <a:noAutofit/>
            </a:bodyPr>
            <a:lstStyle/>
            <a:p>
              <a:pPr indent="0" lvl="0" marL="0" marR="0" rtl="0" algn="ctr">
                <a:lnSpc>
                  <a:spcPct val="120005"/>
                </a:lnSpc>
                <a:spcBef>
                  <a:spcPts val="0"/>
                </a:spcBef>
                <a:spcAft>
                  <a:spcPts val="0"/>
                </a:spcAft>
                <a:buNone/>
              </a:pPr>
              <a:r>
                <a:rPr b="1" lang="en-US" sz="3999">
                  <a:solidFill>
                    <a:srgbClr val="FFFFFF"/>
                  </a:solidFill>
                  <a:latin typeface="Calibri"/>
                  <a:ea typeface="Calibri"/>
                  <a:cs typeface="Calibri"/>
                  <a:sym typeface="Calibri"/>
                </a:rPr>
                <a:t>2</a:t>
              </a:r>
              <a:endParaRPr/>
            </a:p>
          </p:txBody>
        </p:sp>
      </p:grpSp>
      <p:grpSp>
        <p:nvGrpSpPr>
          <p:cNvPr id="269" name="Google Shape;269;p6"/>
          <p:cNvGrpSpPr/>
          <p:nvPr/>
        </p:nvGrpSpPr>
        <p:grpSpPr>
          <a:xfrm>
            <a:off x="7040880" y="4530410"/>
            <a:ext cx="4206240" cy="1313334"/>
            <a:chOff x="0" y="-66675"/>
            <a:chExt cx="5608320" cy="1751112"/>
          </a:xfrm>
        </p:grpSpPr>
        <p:sp>
          <p:nvSpPr>
            <p:cNvPr id="270" name="Google Shape;270;p6"/>
            <p:cNvSpPr/>
            <p:nvPr/>
          </p:nvSpPr>
          <p:spPr>
            <a:xfrm>
              <a:off x="0" y="0"/>
              <a:ext cx="5608320" cy="1684437"/>
            </a:xfrm>
            <a:custGeom>
              <a:rect b="b" l="l" r="r" t="t"/>
              <a:pathLst>
                <a:path extrusionOk="0" h="1684437" w="5608320">
                  <a:moveTo>
                    <a:pt x="0" y="0"/>
                  </a:moveTo>
                  <a:lnTo>
                    <a:pt x="5608320" y="0"/>
                  </a:lnTo>
                  <a:lnTo>
                    <a:pt x="5608320" y="1684437"/>
                  </a:lnTo>
                  <a:lnTo>
                    <a:pt x="0" y="1684437"/>
                  </a:lnTo>
                  <a:close/>
                </a:path>
              </a:pathLst>
            </a:custGeom>
            <a:blipFill rotWithShape="1">
              <a:blip r:embed="rId3">
                <a:alphaModFix amt="0"/>
              </a:blip>
              <a:stretch>
                <a:fillRect b="6172" l="0" r="0" t="-3592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6"/>
            <p:cNvSpPr txBox="1"/>
            <p:nvPr/>
          </p:nvSpPr>
          <p:spPr>
            <a:xfrm>
              <a:off x="0" y="-66675"/>
              <a:ext cx="5608320" cy="17511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600">
                  <a:solidFill>
                    <a:srgbClr val="1F2430"/>
                  </a:solidFill>
                  <a:latin typeface="Calibri"/>
                  <a:ea typeface="Calibri"/>
                  <a:cs typeface="Calibri"/>
                  <a:sym typeface="Calibri"/>
                </a:rPr>
                <a:t>Impute missing values</a:t>
              </a:r>
              <a:endParaRPr/>
            </a:p>
          </p:txBody>
        </p:sp>
      </p:grpSp>
      <p:sp>
        <p:nvSpPr>
          <p:cNvPr id="272" name="Google Shape;272;p6"/>
          <p:cNvSpPr txBox="1"/>
          <p:nvPr/>
        </p:nvSpPr>
        <p:spPr>
          <a:xfrm>
            <a:off x="7040880" y="5694045"/>
            <a:ext cx="4206240" cy="308419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Train-only statistics: mode for the 3 categorical columns, median for courier experience. 30 gaps per column down to 0.</a:t>
            </a:r>
            <a:endParaRPr/>
          </a:p>
        </p:txBody>
      </p:sp>
      <p:sp>
        <p:nvSpPr>
          <p:cNvPr id="273" name="Google Shape;273;p6"/>
          <p:cNvSpPr/>
          <p:nvPr/>
        </p:nvSpPr>
        <p:spPr>
          <a:xfrm>
            <a:off x="12252960" y="3017520"/>
            <a:ext cx="5120640" cy="6035040"/>
          </a:xfrm>
          <a:custGeom>
            <a:rect b="b" l="l" r="r" t="t"/>
            <a:pathLst>
              <a:path extrusionOk="0" h="8046720" w="6827520">
                <a:moveTo>
                  <a:pt x="0" y="243840"/>
                </a:moveTo>
                <a:cubicBezTo>
                  <a:pt x="0" y="109220"/>
                  <a:pt x="109220" y="0"/>
                  <a:pt x="243840" y="0"/>
                </a:cubicBezTo>
                <a:lnTo>
                  <a:pt x="6583680" y="0"/>
                </a:lnTo>
                <a:cubicBezTo>
                  <a:pt x="6718300" y="0"/>
                  <a:pt x="6827520" y="109220"/>
                  <a:pt x="6827520" y="243840"/>
                </a:cubicBezTo>
                <a:lnTo>
                  <a:pt x="6827520" y="7802880"/>
                </a:lnTo>
                <a:cubicBezTo>
                  <a:pt x="6827520" y="7937500"/>
                  <a:pt x="6718300" y="8046720"/>
                  <a:pt x="6583680" y="8046720"/>
                </a:cubicBezTo>
                <a:lnTo>
                  <a:pt x="243840" y="8046720"/>
                </a:lnTo>
                <a:cubicBezTo>
                  <a:pt x="109220" y="8046720"/>
                  <a:pt x="0" y="7937500"/>
                  <a:pt x="0" y="780288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6"/>
          <p:cNvSpPr/>
          <p:nvPr/>
        </p:nvSpPr>
        <p:spPr>
          <a:xfrm>
            <a:off x="12710160" y="347472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5" name="Google Shape;275;p6"/>
          <p:cNvGrpSpPr/>
          <p:nvPr/>
        </p:nvGrpSpPr>
        <p:grpSpPr>
          <a:xfrm>
            <a:off x="12710160" y="3410426"/>
            <a:ext cx="1097280" cy="1161574"/>
            <a:chOff x="0" y="-85725"/>
            <a:chExt cx="1463040" cy="1548765"/>
          </a:xfrm>
        </p:grpSpPr>
        <p:sp>
          <p:nvSpPr>
            <p:cNvPr id="276" name="Google Shape;276;p6"/>
            <p:cNvSpPr/>
            <p:nvPr/>
          </p:nvSpPr>
          <p:spPr>
            <a:xfrm>
              <a:off x="0" y="0"/>
              <a:ext cx="1463040" cy="1463040"/>
            </a:xfrm>
            <a:custGeom>
              <a:rect b="b" l="l" r="r" t="t"/>
              <a:pathLst>
                <a:path extrusionOk="0" h="1463040" w="1463040">
                  <a:moveTo>
                    <a:pt x="0" y="0"/>
                  </a:moveTo>
                  <a:lnTo>
                    <a:pt x="1463040" y="0"/>
                  </a:lnTo>
                  <a:lnTo>
                    <a:pt x="1463040" y="1463040"/>
                  </a:lnTo>
                  <a:lnTo>
                    <a:pt x="0" y="1463040"/>
                  </a:lnTo>
                  <a:close/>
                </a:path>
              </a:pathLst>
            </a:custGeom>
            <a:blipFill rotWithShape="1">
              <a:blip r:embed="rId3">
                <a:alphaModFix amt="0"/>
              </a:blip>
              <a:stretch>
                <a:fillRect b="0" l="-78304" r="-783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6"/>
            <p:cNvSpPr txBox="1"/>
            <p:nvPr/>
          </p:nvSpPr>
          <p:spPr>
            <a:xfrm>
              <a:off x="0" y="-85725"/>
              <a:ext cx="1463040" cy="1548765"/>
            </a:xfrm>
            <a:prstGeom prst="rect">
              <a:avLst/>
            </a:prstGeom>
            <a:noFill/>
            <a:ln>
              <a:noFill/>
            </a:ln>
          </p:spPr>
          <p:txBody>
            <a:bodyPr anchorCtr="0" anchor="ctr" bIns="0" lIns="0" spcFirstLastPara="1" rIns="0" wrap="square" tIns="0">
              <a:noAutofit/>
            </a:bodyPr>
            <a:lstStyle/>
            <a:p>
              <a:pPr indent="0" lvl="0" marL="0" marR="0" rtl="0" algn="ctr">
                <a:lnSpc>
                  <a:spcPct val="120005"/>
                </a:lnSpc>
                <a:spcBef>
                  <a:spcPts val="0"/>
                </a:spcBef>
                <a:spcAft>
                  <a:spcPts val="0"/>
                </a:spcAft>
                <a:buNone/>
              </a:pPr>
              <a:r>
                <a:rPr b="1" lang="en-US" sz="3999">
                  <a:solidFill>
                    <a:srgbClr val="FFFFFF"/>
                  </a:solidFill>
                  <a:latin typeface="Calibri"/>
                  <a:ea typeface="Calibri"/>
                  <a:cs typeface="Calibri"/>
                  <a:sym typeface="Calibri"/>
                </a:rPr>
                <a:t>3</a:t>
              </a:r>
              <a:endParaRPr/>
            </a:p>
          </p:txBody>
        </p:sp>
      </p:grpSp>
      <p:grpSp>
        <p:nvGrpSpPr>
          <p:cNvPr id="278" name="Google Shape;278;p6"/>
          <p:cNvGrpSpPr/>
          <p:nvPr/>
        </p:nvGrpSpPr>
        <p:grpSpPr>
          <a:xfrm>
            <a:off x="12710160" y="4796314"/>
            <a:ext cx="4206240" cy="781526"/>
            <a:chOff x="0" y="-66675"/>
            <a:chExt cx="5608320" cy="1042035"/>
          </a:xfrm>
        </p:grpSpPr>
        <p:sp>
          <p:nvSpPr>
            <p:cNvPr id="279" name="Google Shape;279;p6"/>
            <p:cNvSpPr/>
            <p:nvPr/>
          </p:nvSpPr>
          <p:spPr>
            <a:xfrm>
              <a:off x="0" y="0"/>
              <a:ext cx="5608320" cy="975360"/>
            </a:xfrm>
            <a:custGeom>
              <a:rect b="b" l="l" r="r" t="t"/>
              <a:pathLst>
                <a:path extrusionOk="0" h="975360" w="5608320">
                  <a:moveTo>
                    <a:pt x="0" y="0"/>
                  </a:moveTo>
                  <a:lnTo>
                    <a:pt x="5608320" y="0"/>
                  </a:lnTo>
                  <a:lnTo>
                    <a:pt x="5608320" y="975360"/>
                  </a:lnTo>
                  <a:lnTo>
                    <a:pt x="0" y="975360"/>
                  </a:lnTo>
                  <a:close/>
                </a:path>
              </a:pathLst>
            </a:custGeom>
            <a:blipFill rotWithShape="1">
              <a:blip r:embed="rId3">
                <a:alphaModFix amt="0"/>
              </a:blip>
              <a:stretch>
                <a:fillRect b="-62037" l="0" r="0" t="-620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6"/>
            <p:cNvSpPr txBox="1"/>
            <p:nvPr/>
          </p:nvSpPr>
          <p:spPr>
            <a:xfrm>
              <a:off x="0" y="-66675"/>
              <a:ext cx="5608320" cy="1042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600">
                  <a:solidFill>
                    <a:srgbClr val="1F2430"/>
                  </a:solidFill>
                  <a:latin typeface="Calibri"/>
                  <a:ea typeface="Calibri"/>
                  <a:cs typeface="Calibri"/>
                  <a:sym typeface="Calibri"/>
                </a:rPr>
                <a:t>Check outliers</a:t>
              </a:r>
              <a:endParaRPr/>
            </a:p>
          </p:txBody>
        </p:sp>
      </p:grpSp>
      <p:sp>
        <p:nvSpPr>
          <p:cNvPr id="281" name="Google Shape;281;p6"/>
          <p:cNvSpPr txBox="1"/>
          <p:nvPr/>
        </p:nvSpPr>
        <p:spPr>
          <a:xfrm>
            <a:off x="12710160" y="5694045"/>
            <a:ext cx="4206240" cy="308419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IQR check on distance, preparation time and courier experience found 0 outliers, so no capping was needed.</a:t>
            </a:r>
            <a:endParaRPr/>
          </a:p>
        </p:txBody>
      </p:sp>
      <p:sp>
        <p:nvSpPr>
          <p:cNvPr id="282" name="Google Shape;282;p6"/>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grpSp>
        <p:nvGrpSpPr>
          <p:cNvPr id="287" name="Google Shape;287;p7"/>
          <p:cNvGrpSpPr/>
          <p:nvPr/>
        </p:nvGrpSpPr>
        <p:grpSpPr>
          <a:xfrm>
            <a:off x="914400" y="541496"/>
            <a:ext cx="16459200" cy="1287304"/>
            <a:chOff x="0" y="-9525"/>
            <a:chExt cx="21945600" cy="1716405"/>
          </a:xfrm>
        </p:grpSpPr>
        <p:sp>
          <p:nvSpPr>
            <p:cNvPr id="288" name="Google Shape;288;p7"/>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7"/>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Feature Engineering</a:t>
              </a:r>
              <a:endParaRPr/>
            </a:p>
          </p:txBody>
        </p:sp>
      </p:grpSp>
      <p:sp>
        <p:nvSpPr>
          <p:cNvPr id="290" name="Google Shape;290;p7"/>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Four new features built from input columns only, with no use of the target</a:t>
            </a:r>
            <a:endParaRPr/>
          </a:p>
        </p:txBody>
      </p:sp>
      <p:graphicFrame>
        <p:nvGraphicFramePr>
          <p:cNvPr id="291" name="Google Shape;291;p7"/>
          <p:cNvGraphicFramePr/>
          <p:nvPr/>
        </p:nvGraphicFramePr>
        <p:xfrm>
          <a:off x="914400" y="2926080"/>
          <a:ext cx="3000000" cy="3000000"/>
        </p:xfrm>
        <a:graphic>
          <a:graphicData uri="http://schemas.openxmlformats.org/drawingml/2006/table">
            <a:tbl>
              <a:tblPr>
                <a:noFill/>
                <a:tableStyleId>{65851EFF-ECB7-4A0C-A628-E1CD1D6089D0}</a:tableStyleId>
              </a:tblPr>
              <a:tblGrid>
                <a:gridCol w="2744275"/>
                <a:gridCol w="4819375"/>
                <a:gridCol w="3917150"/>
              </a:tblGrid>
              <a:tr h="818975">
                <a:tc>
                  <a:txBody>
                    <a:bodyPr/>
                    <a:lstStyle/>
                    <a:p>
                      <a:pPr indent="0" lvl="0" marL="0" marR="0" rtl="0" algn="l">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Feature</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l">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Definition</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l">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Purpose</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r>
              <a:tr h="1166850">
                <a:tc>
                  <a:txBody>
                    <a:bodyPr/>
                    <a:lstStyle/>
                    <a:p>
                      <a:pPr indent="0" lvl="0" marL="0" marR="0" rtl="0" algn="l">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Traffic_Ord</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Low, Medium, High → 0, 1, 2</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Ordered traffic scale</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1166850">
                <a:tc>
                  <a:txBody>
                    <a:bodyPr/>
                    <a:lstStyle/>
                    <a:p>
                      <a:pPr indent="0" lvl="0" marL="0" marR="0" rtl="0" algn="l">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Dist_x_Traffic</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Distance × Traffic_Ord</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Load from distance and congestion</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1166850">
                <a:tc>
                  <a:txBody>
                    <a:bodyPr/>
                    <a:lstStyle/>
                    <a:p>
                      <a:pPr indent="0" lvl="0" marL="0" marR="0" rtl="0" algn="l">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Dist_per_Exp</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Distance ÷ (Experience + 1)</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Distance relative to courier skill</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1166850">
                <a:tc>
                  <a:txBody>
                    <a:bodyPr/>
                    <a:lstStyle/>
                    <a:p>
                      <a:pPr indent="0" lvl="0" marL="0" marR="0" rtl="0" algn="l">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Bad_Weather</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 if Rainy, Snowy or Foggy</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Flags adverse conditions</a:t>
                      </a:r>
                      <a:endParaRPr sz="1100" u="none" cap="none" strike="noStrike"/>
                    </a:p>
                  </a:txBody>
                  <a:tcPr marT="91450" marB="91450" marR="91450" marL="914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bl>
          </a:graphicData>
        </a:graphic>
      </p:graphicFrame>
      <p:sp>
        <p:nvSpPr>
          <p:cNvPr id="292" name="Google Shape;292;p7"/>
          <p:cNvSpPr/>
          <p:nvPr/>
        </p:nvSpPr>
        <p:spPr>
          <a:xfrm>
            <a:off x="12984480" y="2926080"/>
            <a:ext cx="4389120" cy="2926080"/>
          </a:xfrm>
          <a:custGeom>
            <a:rect b="b" l="l" r="r" t="t"/>
            <a:pathLst>
              <a:path extrusionOk="0" h="3901440" w="5852160">
                <a:moveTo>
                  <a:pt x="0" y="243840"/>
                </a:moveTo>
                <a:cubicBezTo>
                  <a:pt x="0" y="109220"/>
                  <a:pt x="109220" y="0"/>
                  <a:pt x="243840" y="0"/>
                </a:cubicBezTo>
                <a:lnTo>
                  <a:pt x="5608320" y="0"/>
                </a:lnTo>
                <a:cubicBezTo>
                  <a:pt x="5742940" y="0"/>
                  <a:pt x="5852160" y="109220"/>
                  <a:pt x="5852160" y="243840"/>
                </a:cubicBezTo>
                <a:lnTo>
                  <a:pt x="5852160" y="3657600"/>
                </a:lnTo>
                <a:cubicBezTo>
                  <a:pt x="5852160" y="3792220"/>
                  <a:pt x="5742940" y="3901440"/>
                  <a:pt x="560832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3" name="Google Shape;293;p7"/>
          <p:cNvGrpSpPr/>
          <p:nvPr/>
        </p:nvGrpSpPr>
        <p:grpSpPr>
          <a:xfrm>
            <a:off x="13258800" y="3093244"/>
            <a:ext cx="3840480" cy="1570196"/>
            <a:chOff x="0" y="-142875"/>
            <a:chExt cx="5120640" cy="2093595"/>
          </a:xfrm>
        </p:grpSpPr>
        <p:sp>
          <p:nvSpPr>
            <p:cNvPr id="294" name="Google Shape;294;p7"/>
            <p:cNvSpPr/>
            <p:nvPr/>
          </p:nvSpPr>
          <p:spPr>
            <a:xfrm>
              <a:off x="0" y="0"/>
              <a:ext cx="5120640" cy="1950720"/>
            </a:xfrm>
            <a:custGeom>
              <a:rect b="b" l="l" r="r" t="t"/>
              <a:pathLst>
                <a:path extrusionOk="0" h="1950720" w="5120640">
                  <a:moveTo>
                    <a:pt x="0" y="0"/>
                  </a:moveTo>
                  <a:lnTo>
                    <a:pt x="5120640" y="0"/>
                  </a:lnTo>
                  <a:lnTo>
                    <a:pt x="5120640" y="1950720"/>
                  </a:lnTo>
                  <a:lnTo>
                    <a:pt x="0" y="1950720"/>
                  </a:lnTo>
                  <a:close/>
                </a:path>
              </a:pathLst>
            </a:custGeom>
            <a:blipFill rotWithShape="1">
              <a:blip r:embed="rId3">
                <a:alphaModFix amt="0"/>
              </a:blip>
              <a:stretch>
                <a:fillRect b="-1148" l="0" r="0" t="-114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7"/>
            <p:cNvSpPr txBox="1"/>
            <p:nvPr/>
          </p:nvSpPr>
          <p:spPr>
            <a:xfrm>
              <a:off x="0" y="-142875"/>
              <a:ext cx="5120640" cy="209359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16</a:t>
              </a:r>
              <a:endParaRPr/>
            </a:p>
          </p:txBody>
        </p:sp>
      </p:grpSp>
      <p:sp>
        <p:nvSpPr>
          <p:cNvPr id="296" name="Google Shape;296;p7"/>
          <p:cNvSpPr txBox="1"/>
          <p:nvPr/>
        </p:nvSpPr>
        <p:spPr>
          <a:xfrm>
            <a:off x="13258800" y="4596765"/>
            <a:ext cx="3840480" cy="98107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200">
                <a:solidFill>
                  <a:srgbClr val="1F2430"/>
                </a:solidFill>
                <a:latin typeface="Calibri"/>
                <a:ea typeface="Calibri"/>
                <a:cs typeface="Calibri"/>
                <a:sym typeface="Calibri"/>
              </a:rPr>
              <a:t>final features: 3 numeric + 4 engineered + 9 one-hot</a:t>
            </a:r>
            <a:endParaRPr/>
          </a:p>
        </p:txBody>
      </p:sp>
      <p:sp>
        <p:nvSpPr>
          <p:cNvPr id="297" name="Google Shape;297;p7"/>
          <p:cNvSpPr/>
          <p:nvPr/>
        </p:nvSpPr>
        <p:spPr>
          <a:xfrm>
            <a:off x="12984480" y="6309360"/>
            <a:ext cx="4389120" cy="2926080"/>
          </a:xfrm>
          <a:custGeom>
            <a:rect b="b" l="l" r="r" t="t"/>
            <a:pathLst>
              <a:path extrusionOk="0" h="3901440" w="5852160">
                <a:moveTo>
                  <a:pt x="0" y="243840"/>
                </a:moveTo>
                <a:cubicBezTo>
                  <a:pt x="0" y="109220"/>
                  <a:pt x="109220" y="0"/>
                  <a:pt x="243840" y="0"/>
                </a:cubicBezTo>
                <a:lnTo>
                  <a:pt x="5608320" y="0"/>
                </a:lnTo>
                <a:cubicBezTo>
                  <a:pt x="5742940" y="0"/>
                  <a:pt x="5852160" y="109220"/>
                  <a:pt x="5852160" y="243840"/>
                </a:cubicBezTo>
                <a:lnTo>
                  <a:pt x="5852160" y="3657600"/>
                </a:lnTo>
                <a:cubicBezTo>
                  <a:pt x="5852160" y="3792220"/>
                  <a:pt x="5742940" y="3901440"/>
                  <a:pt x="560832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8" name="Google Shape;298;p7"/>
          <p:cNvGrpSpPr/>
          <p:nvPr/>
        </p:nvGrpSpPr>
        <p:grpSpPr>
          <a:xfrm>
            <a:off x="13258800" y="6442234"/>
            <a:ext cx="3840480" cy="2610326"/>
            <a:chOff x="0" y="-66675"/>
            <a:chExt cx="5120640" cy="3480435"/>
          </a:xfrm>
        </p:grpSpPr>
        <p:sp>
          <p:nvSpPr>
            <p:cNvPr id="299" name="Google Shape;299;p7"/>
            <p:cNvSpPr/>
            <p:nvPr/>
          </p:nvSpPr>
          <p:spPr>
            <a:xfrm>
              <a:off x="0" y="0"/>
              <a:ext cx="5120640" cy="3413760"/>
            </a:xfrm>
            <a:custGeom>
              <a:rect b="b" l="l" r="r" t="t"/>
              <a:pathLst>
                <a:path extrusionOk="0" h="3413760" w="5120640">
                  <a:moveTo>
                    <a:pt x="0" y="0"/>
                  </a:moveTo>
                  <a:lnTo>
                    <a:pt x="5120640" y="0"/>
                  </a:lnTo>
                  <a:lnTo>
                    <a:pt x="5120640" y="3413760"/>
                  </a:lnTo>
                  <a:lnTo>
                    <a:pt x="0" y="3413760"/>
                  </a:lnTo>
                  <a:close/>
                </a:path>
              </a:pathLst>
            </a:custGeom>
            <a:blipFill rotWithShape="1">
              <a:blip r:embed="rId3">
                <a:alphaModFix amt="0"/>
              </a:blip>
              <a:stretch>
                <a:fillRect b="0" l="-35534" r="-3553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7"/>
            <p:cNvSpPr txBox="1"/>
            <p:nvPr/>
          </p:nvSpPr>
          <p:spPr>
            <a:xfrm>
              <a:off x="0" y="-66675"/>
              <a:ext cx="5120640" cy="348043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One-hot encoding</a:t>
              </a:r>
              <a:endParaRPr/>
            </a:p>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Weather, Time_of_Day and Vehicle_Type; test columns aligned to train.</a:t>
              </a:r>
              <a:endParaRPr/>
            </a:p>
          </p:txBody>
        </p:sp>
      </p:grpSp>
      <p:sp>
        <p:nvSpPr>
          <p:cNvPr id="301" name="Google Shape;301;p7"/>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8"/>
          <p:cNvGrpSpPr/>
          <p:nvPr/>
        </p:nvGrpSpPr>
        <p:grpSpPr>
          <a:xfrm>
            <a:off x="914400" y="541496"/>
            <a:ext cx="16459200" cy="1287304"/>
            <a:chOff x="0" y="-9525"/>
            <a:chExt cx="21945600" cy="1716405"/>
          </a:xfrm>
        </p:grpSpPr>
        <p:sp>
          <p:nvSpPr>
            <p:cNvPr id="307" name="Google Shape;307;p8"/>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8"/>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Modeling Approach</a:t>
              </a:r>
              <a:endParaRPr/>
            </a:p>
          </p:txBody>
        </p:sp>
      </p:grpSp>
      <p:sp>
        <p:nvSpPr>
          <p:cNvPr id="309" name="Google Shape;309;p8"/>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Four regression models compared on the same train and test split</a:t>
            </a:r>
            <a:endParaRPr/>
          </a:p>
        </p:txBody>
      </p:sp>
      <p:sp>
        <p:nvSpPr>
          <p:cNvPr id="310" name="Google Shape;310;p8"/>
          <p:cNvSpPr/>
          <p:nvPr/>
        </p:nvSpPr>
        <p:spPr>
          <a:xfrm>
            <a:off x="914400" y="3017520"/>
            <a:ext cx="3749040" cy="4846320"/>
          </a:xfrm>
          <a:custGeom>
            <a:rect b="b" l="l" r="r" t="t"/>
            <a:pathLst>
              <a:path extrusionOk="0" h="6461760" w="4998720">
                <a:moveTo>
                  <a:pt x="0" y="243840"/>
                </a:moveTo>
                <a:cubicBezTo>
                  <a:pt x="0" y="109220"/>
                  <a:pt x="109220" y="0"/>
                  <a:pt x="243840" y="0"/>
                </a:cubicBezTo>
                <a:lnTo>
                  <a:pt x="4754880" y="0"/>
                </a:lnTo>
                <a:cubicBezTo>
                  <a:pt x="4889500" y="0"/>
                  <a:pt x="4998720" y="109220"/>
                  <a:pt x="4998720" y="243840"/>
                </a:cubicBezTo>
                <a:lnTo>
                  <a:pt x="4998720" y="6217920"/>
                </a:lnTo>
                <a:cubicBezTo>
                  <a:pt x="4998720" y="6352540"/>
                  <a:pt x="4889500" y="6461760"/>
                  <a:pt x="4754880" y="6461760"/>
                </a:cubicBezTo>
                <a:lnTo>
                  <a:pt x="243840" y="6461760"/>
                </a:lnTo>
                <a:cubicBezTo>
                  <a:pt x="109220" y="6461760"/>
                  <a:pt x="0" y="6352540"/>
                  <a:pt x="0" y="621792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
          <p:cNvSpPr/>
          <p:nvPr/>
        </p:nvSpPr>
        <p:spPr>
          <a:xfrm>
            <a:off x="1280160" y="3383280"/>
            <a:ext cx="1188720" cy="1188720"/>
          </a:xfrm>
          <a:custGeom>
            <a:rect b="b" l="l" r="r" t="t"/>
            <a:pathLst>
              <a:path extrusionOk="0" h="1584960" w="1584960">
                <a:moveTo>
                  <a:pt x="0" y="792480"/>
                </a:moveTo>
                <a:cubicBezTo>
                  <a:pt x="0" y="354838"/>
                  <a:pt x="354838" y="0"/>
                  <a:pt x="792480" y="0"/>
                </a:cubicBezTo>
                <a:cubicBezTo>
                  <a:pt x="1230122" y="0"/>
                  <a:pt x="1584960" y="354838"/>
                  <a:pt x="1584960" y="792480"/>
                </a:cubicBezTo>
                <a:cubicBezTo>
                  <a:pt x="1584960" y="1230122"/>
                  <a:pt x="1230122" y="1584960"/>
                  <a:pt x="792480" y="1584960"/>
                </a:cubicBezTo>
                <a:cubicBezTo>
                  <a:pt x="354838" y="1584960"/>
                  <a:pt x="0" y="1230122"/>
                  <a:pt x="0" y="792480"/>
                </a:cubicBezTo>
                <a:close/>
              </a:path>
            </a:pathLst>
          </a:custGeom>
          <a:solidFill>
            <a:srgbClr val="2646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Model 1 icon" id="312" name="Google Shape;312;p8"/>
          <p:cNvSpPr/>
          <p:nvPr/>
        </p:nvSpPr>
        <p:spPr>
          <a:xfrm>
            <a:off x="1577340" y="3680460"/>
            <a:ext cx="594360" cy="594360"/>
          </a:xfrm>
          <a:custGeom>
            <a:rect b="b" l="l" r="r" t="t"/>
            <a:pathLst>
              <a:path extrusionOk="0" h="792480" w="792480">
                <a:moveTo>
                  <a:pt x="0" y="0"/>
                </a:moveTo>
                <a:lnTo>
                  <a:pt x="792480" y="0"/>
                </a:lnTo>
                <a:lnTo>
                  <a:pt x="792480" y="792480"/>
                </a:lnTo>
                <a:lnTo>
                  <a:pt x="0" y="79248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3" name="Google Shape;313;p8"/>
          <p:cNvGrpSpPr/>
          <p:nvPr/>
        </p:nvGrpSpPr>
        <p:grpSpPr>
          <a:xfrm>
            <a:off x="1280160" y="4803458"/>
            <a:ext cx="3017520" cy="774382"/>
            <a:chOff x="0" y="-57150"/>
            <a:chExt cx="4023360" cy="1032510"/>
          </a:xfrm>
        </p:grpSpPr>
        <p:sp>
          <p:nvSpPr>
            <p:cNvPr id="314" name="Google Shape;314;p8"/>
            <p:cNvSpPr/>
            <p:nvPr/>
          </p:nvSpPr>
          <p:spPr>
            <a:xfrm>
              <a:off x="0" y="0"/>
              <a:ext cx="4023360" cy="975360"/>
            </a:xfrm>
            <a:custGeom>
              <a:rect b="b" l="l" r="r" t="t"/>
              <a:pathLst>
                <a:path extrusionOk="0" h="975360" w="4023360">
                  <a:moveTo>
                    <a:pt x="0" y="0"/>
                  </a:moveTo>
                  <a:lnTo>
                    <a:pt x="4023360" y="0"/>
                  </a:lnTo>
                  <a:lnTo>
                    <a:pt x="4023360" y="975360"/>
                  </a:lnTo>
                  <a:lnTo>
                    <a:pt x="0" y="975360"/>
                  </a:lnTo>
                  <a:close/>
                </a:path>
              </a:pathLst>
            </a:custGeom>
            <a:blipFill rotWithShape="1">
              <a:blip r:embed="rId3">
                <a:alphaModFix amt="0"/>
              </a:blip>
              <a:stretch>
                <a:fillRect b="-30376" l="0" r="0" t="-303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8"/>
            <p:cNvSpPr txBox="1"/>
            <p:nvPr/>
          </p:nvSpPr>
          <p:spPr>
            <a:xfrm>
              <a:off x="0" y="-57150"/>
              <a:ext cx="4023360" cy="10325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200">
                  <a:solidFill>
                    <a:srgbClr val="1F2430"/>
                  </a:solidFill>
                  <a:latin typeface="Calibri"/>
                  <a:ea typeface="Calibri"/>
                  <a:cs typeface="Calibri"/>
                  <a:sym typeface="Calibri"/>
                </a:rPr>
                <a:t>Baseline</a:t>
              </a:r>
              <a:endParaRPr/>
            </a:p>
          </p:txBody>
        </p:sp>
      </p:grpSp>
      <p:sp>
        <p:nvSpPr>
          <p:cNvPr id="316" name="Google Shape;316;p8"/>
          <p:cNvSpPr txBox="1"/>
          <p:nvPr/>
        </p:nvSpPr>
        <p:spPr>
          <a:xfrm>
            <a:off x="1280160" y="5602605"/>
            <a:ext cx="3017520" cy="207835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Predicts the training mean: the bar every model must beat.</a:t>
            </a:r>
            <a:endParaRPr/>
          </a:p>
        </p:txBody>
      </p:sp>
      <p:sp>
        <p:nvSpPr>
          <p:cNvPr id="317" name="Google Shape;317;p8"/>
          <p:cNvSpPr/>
          <p:nvPr/>
        </p:nvSpPr>
        <p:spPr>
          <a:xfrm>
            <a:off x="5151120" y="3017520"/>
            <a:ext cx="3749040" cy="4846320"/>
          </a:xfrm>
          <a:custGeom>
            <a:rect b="b" l="l" r="r" t="t"/>
            <a:pathLst>
              <a:path extrusionOk="0" h="6461760" w="4998720">
                <a:moveTo>
                  <a:pt x="0" y="243840"/>
                </a:moveTo>
                <a:cubicBezTo>
                  <a:pt x="0" y="109220"/>
                  <a:pt x="109220" y="0"/>
                  <a:pt x="243840" y="0"/>
                </a:cubicBezTo>
                <a:lnTo>
                  <a:pt x="4754880" y="0"/>
                </a:lnTo>
                <a:cubicBezTo>
                  <a:pt x="4889500" y="0"/>
                  <a:pt x="4998720" y="109220"/>
                  <a:pt x="4998720" y="243840"/>
                </a:cubicBezTo>
                <a:lnTo>
                  <a:pt x="4998720" y="6217920"/>
                </a:lnTo>
                <a:cubicBezTo>
                  <a:pt x="4998720" y="6352540"/>
                  <a:pt x="4889500" y="6461760"/>
                  <a:pt x="4754880" y="6461760"/>
                </a:cubicBezTo>
                <a:lnTo>
                  <a:pt x="243840" y="6461760"/>
                </a:lnTo>
                <a:cubicBezTo>
                  <a:pt x="109220" y="6461760"/>
                  <a:pt x="0" y="6352540"/>
                  <a:pt x="0" y="621792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8"/>
          <p:cNvSpPr/>
          <p:nvPr/>
        </p:nvSpPr>
        <p:spPr>
          <a:xfrm>
            <a:off x="5516880" y="3383280"/>
            <a:ext cx="1188720" cy="1188720"/>
          </a:xfrm>
          <a:custGeom>
            <a:rect b="b" l="l" r="r" t="t"/>
            <a:pathLst>
              <a:path extrusionOk="0" h="1584960" w="1584960">
                <a:moveTo>
                  <a:pt x="0" y="792480"/>
                </a:moveTo>
                <a:cubicBezTo>
                  <a:pt x="0" y="354838"/>
                  <a:pt x="354838" y="0"/>
                  <a:pt x="792480" y="0"/>
                </a:cubicBezTo>
                <a:cubicBezTo>
                  <a:pt x="1230122" y="0"/>
                  <a:pt x="1584960" y="354838"/>
                  <a:pt x="1584960" y="792480"/>
                </a:cubicBezTo>
                <a:cubicBezTo>
                  <a:pt x="1584960" y="1230122"/>
                  <a:pt x="1230122" y="1584960"/>
                  <a:pt x="792480" y="1584960"/>
                </a:cubicBezTo>
                <a:cubicBezTo>
                  <a:pt x="354838" y="1584960"/>
                  <a:pt x="0" y="1230122"/>
                  <a:pt x="0" y="79248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Model 2 icon" id="319" name="Google Shape;319;p8"/>
          <p:cNvSpPr/>
          <p:nvPr/>
        </p:nvSpPr>
        <p:spPr>
          <a:xfrm>
            <a:off x="5814060" y="3680460"/>
            <a:ext cx="594360" cy="594360"/>
          </a:xfrm>
          <a:custGeom>
            <a:rect b="b" l="l" r="r" t="t"/>
            <a:pathLst>
              <a:path extrusionOk="0" h="792480" w="792480">
                <a:moveTo>
                  <a:pt x="0" y="0"/>
                </a:moveTo>
                <a:lnTo>
                  <a:pt x="792480" y="0"/>
                </a:lnTo>
                <a:lnTo>
                  <a:pt x="792480" y="792480"/>
                </a:lnTo>
                <a:lnTo>
                  <a:pt x="0" y="79248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0" name="Google Shape;320;p8"/>
          <p:cNvGrpSpPr/>
          <p:nvPr/>
        </p:nvGrpSpPr>
        <p:grpSpPr>
          <a:xfrm>
            <a:off x="5516880" y="4803458"/>
            <a:ext cx="3017520" cy="774382"/>
            <a:chOff x="0" y="-57150"/>
            <a:chExt cx="4023360" cy="1032510"/>
          </a:xfrm>
        </p:grpSpPr>
        <p:sp>
          <p:nvSpPr>
            <p:cNvPr id="321" name="Google Shape;321;p8"/>
            <p:cNvSpPr/>
            <p:nvPr/>
          </p:nvSpPr>
          <p:spPr>
            <a:xfrm>
              <a:off x="0" y="0"/>
              <a:ext cx="4023360" cy="975360"/>
            </a:xfrm>
            <a:custGeom>
              <a:rect b="b" l="l" r="r" t="t"/>
              <a:pathLst>
                <a:path extrusionOk="0" h="975360" w="4023360">
                  <a:moveTo>
                    <a:pt x="0" y="0"/>
                  </a:moveTo>
                  <a:lnTo>
                    <a:pt x="4023360" y="0"/>
                  </a:lnTo>
                  <a:lnTo>
                    <a:pt x="4023360" y="975360"/>
                  </a:lnTo>
                  <a:lnTo>
                    <a:pt x="0" y="975360"/>
                  </a:lnTo>
                  <a:close/>
                </a:path>
              </a:pathLst>
            </a:custGeom>
            <a:blipFill rotWithShape="1">
              <a:blip r:embed="rId3">
                <a:alphaModFix amt="0"/>
              </a:blip>
              <a:stretch>
                <a:fillRect b="-30376" l="0" r="0" t="-303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8"/>
            <p:cNvSpPr txBox="1"/>
            <p:nvPr/>
          </p:nvSpPr>
          <p:spPr>
            <a:xfrm>
              <a:off x="0" y="-57150"/>
              <a:ext cx="4023360" cy="10325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200">
                  <a:solidFill>
                    <a:srgbClr val="1F2430"/>
                  </a:solidFill>
                  <a:latin typeface="Calibri"/>
                  <a:ea typeface="Calibri"/>
                  <a:cs typeface="Calibri"/>
                  <a:sym typeface="Calibri"/>
                </a:rPr>
                <a:t>Linear Regression</a:t>
              </a:r>
              <a:endParaRPr/>
            </a:p>
          </p:txBody>
        </p:sp>
      </p:grpSp>
      <p:sp>
        <p:nvSpPr>
          <p:cNvPr id="323" name="Google Shape;323;p8"/>
          <p:cNvSpPr txBox="1"/>
          <p:nvPr/>
        </p:nvSpPr>
        <p:spPr>
          <a:xfrm>
            <a:off x="5516880" y="5602605"/>
            <a:ext cx="3017520" cy="207835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Simple and interpretable, with one weight per feature.</a:t>
            </a:r>
            <a:endParaRPr/>
          </a:p>
        </p:txBody>
      </p:sp>
      <p:sp>
        <p:nvSpPr>
          <p:cNvPr id="324" name="Google Shape;324;p8"/>
          <p:cNvSpPr/>
          <p:nvPr/>
        </p:nvSpPr>
        <p:spPr>
          <a:xfrm>
            <a:off x="9387840" y="3017520"/>
            <a:ext cx="3749040" cy="4846320"/>
          </a:xfrm>
          <a:custGeom>
            <a:rect b="b" l="l" r="r" t="t"/>
            <a:pathLst>
              <a:path extrusionOk="0" h="6461760" w="4998720">
                <a:moveTo>
                  <a:pt x="0" y="243840"/>
                </a:moveTo>
                <a:cubicBezTo>
                  <a:pt x="0" y="109220"/>
                  <a:pt x="109220" y="0"/>
                  <a:pt x="243840" y="0"/>
                </a:cubicBezTo>
                <a:lnTo>
                  <a:pt x="4754880" y="0"/>
                </a:lnTo>
                <a:cubicBezTo>
                  <a:pt x="4889500" y="0"/>
                  <a:pt x="4998720" y="109220"/>
                  <a:pt x="4998720" y="243840"/>
                </a:cubicBezTo>
                <a:lnTo>
                  <a:pt x="4998720" y="6217920"/>
                </a:lnTo>
                <a:cubicBezTo>
                  <a:pt x="4998720" y="6352540"/>
                  <a:pt x="4889500" y="6461760"/>
                  <a:pt x="4754880" y="6461760"/>
                </a:cubicBezTo>
                <a:lnTo>
                  <a:pt x="243840" y="6461760"/>
                </a:lnTo>
                <a:cubicBezTo>
                  <a:pt x="109220" y="6461760"/>
                  <a:pt x="0" y="6352540"/>
                  <a:pt x="0" y="621792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8"/>
          <p:cNvSpPr/>
          <p:nvPr/>
        </p:nvSpPr>
        <p:spPr>
          <a:xfrm>
            <a:off x="9753600" y="3383280"/>
            <a:ext cx="1188720" cy="1188720"/>
          </a:xfrm>
          <a:custGeom>
            <a:rect b="b" l="l" r="r" t="t"/>
            <a:pathLst>
              <a:path extrusionOk="0" h="1584960" w="1584960">
                <a:moveTo>
                  <a:pt x="0" y="792480"/>
                </a:moveTo>
                <a:cubicBezTo>
                  <a:pt x="0" y="354838"/>
                  <a:pt x="354838" y="0"/>
                  <a:pt x="792480" y="0"/>
                </a:cubicBezTo>
                <a:cubicBezTo>
                  <a:pt x="1230122" y="0"/>
                  <a:pt x="1584960" y="354838"/>
                  <a:pt x="1584960" y="792480"/>
                </a:cubicBezTo>
                <a:cubicBezTo>
                  <a:pt x="1584960" y="1230122"/>
                  <a:pt x="1230122" y="1584960"/>
                  <a:pt x="792480" y="1584960"/>
                </a:cubicBezTo>
                <a:cubicBezTo>
                  <a:pt x="354838" y="1584960"/>
                  <a:pt x="0" y="1230122"/>
                  <a:pt x="0" y="792480"/>
                </a:cubicBezTo>
                <a:close/>
              </a:path>
            </a:pathLst>
          </a:custGeom>
          <a:solidFill>
            <a:srgbClr val="2646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Model 3 icon" id="326" name="Google Shape;326;p8"/>
          <p:cNvSpPr/>
          <p:nvPr/>
        </p:nvSpPr>
        <p:spPr>
          <a:xfrm>
            <a:off x="10050780" y="3680460"/>
            <a:ext cx="594360" cy="594360"/>
          </a:xfrm>
          <a:custGeom>
            <a:rect b="b" l="l" r="r" t="t"/>
            <a:pathLst>
              <a:path extrusionOk="0" h="792480" w="792480">
                <a:moveTo>
                  <a:pt x="0" y="0"/>
                </a:moveTo>
                <a:lnTo>
                  <a:pt x="792480" y="0"/>
                </a:lnTo>
                <a:lnTo>
                  <a:pt x="792480" y="792480"/>
                </a:lnTo>
                <a:lnTo>
                  <a:pt x="0" y="79248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7" name="Google Shape;327;p8"/>
          <p:cNvGrpSpPr/>
          <p:nvPr/>
        </p:nvGrpSpPr>
        <p:grpSpPr>
          <a:xfrm>
            <a:off x="9753600" y="4803458"/>
            <a:ext cx="3017520" cy="774382"/>
            <a:chOff x="0" y="-57150"/>
            <a:chExt cx="4023360" cy="1032510"/>
          </a:xfrm>
        </p:grpSpPr>
        <p:sp>
          <p:nvSpPr>
            <p:cNvPr id="328" name="Google Shape;328;p8"/>
            <p:cNvSpPr/>
            <p:nvPr/>
          </p:nvSpPr>
          <p:spPr>
            <a:xfrm>
              <a:off x="0" y="0"/>
              <a:ext cx="4023360" cy="975360"/>
            </a:xfrm>
            <a:custGeom>
              <a:rect b="b" l="l" r="r" t="t"/>
              <a:pathLst>
                <a:path extrusionOk="0" h="975360" w="4023360">
                  <a:moveTo>
                    <a:pt x="0" y="0"/>
                  </a:moveTo>
                  <a:lnTo>
                    <a:pt x="4023360" y="0"/>
                  </a:lnTo>
                  <a:lnTo>
                    <a:pt x="4023360" y="975360"/>
                  </a:lnTo>
                  <a:lnTo>
                    <a:pt x="0" y="975360"/>
                  </a:lnTo>
                  <a:close/>
                </a:path>
              </a:pathLst>
            </a:custGeom>
            <a:blipFill rotWithShape="1">
              <a:blip r:embed="rId3">
                <a:alphaModFix amt="0"/>
              </a:blip>
              <a:stretch>
                <a:fillRect b="-30376" l="0" r="0" t="-303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8"/>
            <p:cNvSpPr txBox="1"/>
            <p:nvPr/>
          </p:nvSpPr>
          <p:spPr>
            <a:xfrm>
              <a:off x="0" y="-57150"/>
              <a:ext cx="4023360" cy="10325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200">
                  <a:solidFill>
                    <a:srgbClr val="1F2430"/>
                  </a:solidFill>
                  <a:latin typeface="Calibri"/>
                  <a:ea typeface="Calibri"/>
                  <a:cs typeface="Calibri"/>
                  <a:sym typeface="Calibri"/>
                </a:rPr>
                <a:t>Random Forest</a:t>
              </a:r>
              <a:endParaRPr/>
            </a:p>
          </p:txBody>
        </p:sp>
      </p:grpSp>
      <p:sp>
        <p:nvSpPr>
          <p:cNvPr id="330" name="Google Shape;330;p8"/>
          <p:cNvSpPr txBox="1"/>
          <p:nvPr/>
        </p:nvSpPr>
        <p:spPr>
          <a:xfrm>
            <a:off x="9753600" y="5602605"/>
            <a:ext cx="3017520" cy="207835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200 trees; captures non-linear patterns.</a:t>
            </a:r>
            <a:endParaRPr/>
          </a:p>
        </p:txBody>
      </p:sp>
      <p:sp>
        <p:nvSpPr>
          <p:cNvPr id="331" name="Google Shape;331;p8"/>
          <p:cNvSpPr/>
          <p:nvPr/>
        </p:nvSpPr>
        <p:spPr>
          <a:xfrm>
            <a:off x="13624560" y="3017520"/>
            <a:ext cx="3749040" cy="4846320"/>
          </a:xfrm>
          <a:custGeom>
            <a:rect b="b" l="l" r="r" t="t"/>
            <a:pathLst>
              <a:path extrusionOk="0" h="6461760" w="4998720">
                <a:moveTo>
                  <a:pt x="0" y="243840"/>
                </a:moveTo>
                <a:cubicBezTo>
                  <a:pt x="0" y="109220"/>
                  <a:pt x="109220" y="0"/>
                  <a:pt x="243840" y="0"/>
                </a:cubicBezTo>
                <a:lnTo>
                  <a:pt x="4754880" y="0"/>
                </a:lnTo>
                <a:cubicBezTo>
                  <a:pt x="4889500" y="0"/>
                  <a:pt x="4998720" y="109220"/>
                  <a:pt x="4998720" y="243840"/>
                </a:cubicBezTo>
                <a:lnTo>
                  <a:pt x="4998720" y="6217920"/>
                </a:lnTo>
                <a:cubicBezTo>
                  <a:pt x="4998720" y="6352540"/>
                  <a:pt x="4889500" y="6461760"/>
                  <a:pt x="4754880" y="6461760"/>
                </a:cubicBezTo>
                <a:lnTo>
                  <a:pt x="243840" y="6461760"/>
                </a:lnTo>
                <a:cubicBezTo>
                  <a:pt x="109220" y="6461760"/>
                  <a:pt x="0" y="6352540"/>
                  <a:pt x="0" y="621792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8"/>
          <p:cNvSpPr/>
          <p:nvPr/>
        </p:nvSpPr>
        <p:spPr>
          <a:xfrm>
            <a:off x="13990320" y="3383280"/>
            <a:ext cx="1188720" cy="1188720"/>
          </a:xfrm>
          <a:custGeom>
            <a:rect b="b" l="l" r="r" t="t"/>
            <a:pathLst>
              <a:path extrusionOk="0" h="1584960" w="1584960">
                <a:moveTo>
                  <a:pt x="0" y="792480"/>
                </a:moveTo>
                <a:cubicBezTo>
                  <a:pt x="0" y="354838"/>
                  <a:pt x="354838" y="0"/>
                  <a:pt x="792480" y="0"/>
                </a:cubicBezTo>
                <a:cubicBezTo>
                  <a:pt x="1230122" y="0"/>
                  <a:pt x="1584960" y="354838"/>
                  <a:pt x="1584960" y="792480"/>
                </a:cubicBezTo>
                <a:cubicBezTo>
                  <a:pt x="1584960" y="1230122"/>
                  <a:pt x="1230122" y="1584960"/>
                  <a:pt x="792480" y="1584960"/>
                </a:cubicBezTo>
                <a:cubicBezTo>
                  <a:pt x="354838" y="1584960"/>
                  <a:pt x="0" y="1230122"/>
                  <a:pt x="0" y="792480"/>
                </a:cubicBezTo>
                <a:close/>
              </a:path>
            </a:pathLst>
          </a:custGeom>
          <a:solidFill>
            <a:srgbClr val="26465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Model 4 icon" id="333" name="Google Shape;333;p8"/>
          <p:cNvSpPr/>
          <p:nvPr/>
        </p:nvSpPr>
        <p:spPr>
          <a:xfrm>
            <a:off x="14287500" y="3680460"/>
            <a:ext cx="594360" cy="594360"/>
          </a:xfrm>
          <a:custGeom>
            <a:rect b="b" l="l" r="r" t="t"/>
            <a:pathLst>
              <a:path extrusionOk="0" h="792480" w="792480">
                <a:moveTo>
                  <a:pt x="0" y="0"/>
                </a:moveTo>
                <a:lnTo>
                  <a:pt x="792480" y="0"/>
                </a:lnTo>
                <a:lnTo>
                  <a:pt x="792480" y="792480"/>
                </a:lnTo>
                <a:lnTo>
                  <a:pt x="0" y="79248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4" name="Google Shape;334;p8"/>
          <p:cNvGrpSpPr/>
          <p:nvPr/>
        </p:nvGrpSpPr>
        <p:grpSpPr>
          <a:xfrm>
            <a:off x="13990320" y="4803458"/>
            <a:ext cx="3017520" cy="774382"/>
            <a:chOff x="0" y="-57150"/>
            <a:chExt cx="4023360" cy="1032510"/>
          </a:xfrm>
        </p:grpSpPr>
        <p:sp>
          <p:nvSpPr>
            <p:cNvPr id="335" name="Google Shape;335;p8"/>
            <p:cNvSpPr/>
            <p:nvPr/>
          </p:nvSpPr>
          <p:spPr>
            <a:xfrm>
              <a:off x="0" y="0"/>
              <a:ext cx="4023360" cy="975360"/>
            </a:xfrm>
            <a:custGeom>
              <a:rect b="b" l="l" r="r" t="t"/>
              <a:pathLst>
                <a:path extrusionOk="0" h="975360" w="4023360">
                  <a:moveTo>
                    <a:pt x="0" y="0"/>
                  </a:moveTo>
                  <a:lnTo>
                    <a:pt x="4023360" y="0"/>
                  </a:lnTo>
                  <a:lnTo>
                    <a:pt x="4023360" y="975360"/>
                  </a:lnTo>
                  <a:lnTo>
                    <a:pt x="0" y="975360"/>
                  </a:lnTo>
                  <a:close/>
                </a:path>
              </a:pathLst>
            </a:custGeom>
            <a:blipFill rotWithShape="1">
              <a:blip r:embed="rId3">
                <a:alphaModFix amt="0"/>
              </a:blip>
              <a:stretch>
                <a:fillRect b="-30376" l="0" r="0" t="-3037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8"/>
            <p:cNvSpPr txBox="1"/>
            <p:nvPr/>
          </p:nvSpPr>
          <p:spPr>
            <a:xfrm>
              <a:off x="0" y="-57150"/>
              <a:ext cx="4023360" cy="10325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200">
                  <a:solidFill>
                    <a:srgbClr val="1F2430"/>
                  </a:solidFill>
                  <a:latin typeface="Calibri"/>
                  <a:ea typeface="Calibri"/>
                  <a:cs typeface="Calibri"/>
                  <a:sym typeface="Calibri"/>
                </a:rPr>
                <a:t>XGBoost</a:t>
              </a:r>
              <a:endParaRPr/>
            </a:p>
          </p:txBody>
        </p:sp>
      </p:grpSp>
      <p:sp>
        <p:nvSpPr>
          <p:cNvPr id="337" name="Google Shape;337;p8"/>
          <p:cNvSpPr txBox="1"/>
          <p:nvPr/>
        </p:nvSpPr>
        <p:spPr>
          <a:xfrm>
            <a:off x="13990320" y="5602605"/>
            <a:ext cx="3017520" cy="207835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200 boosted trees, learning rate 0.05, max depth 3.</a:t>
            </a:r>
            <a:endParaRPr/>
          </a:p>
        </p:txBody>
      </p:sp>
      <p:sp>
        <p:nvSpPr>
          <p:cNvPr id="338" name="Google Shape;338;p8"/>
          <p:cNvSpPr/>
          <p:nvPr/>
        </p:nvSpPr>
        <p:spPr>
          <a:xfrm>
            <a:off x="914400" y="8229600"/>
            <a:ext cx="16459200" cy="1005840"/>
          </a:xfrm>
          <a:custGeom>
            <a:rect b="b" l="l" r="r" t="t"/>
            <a:pathLst>
              <a:path extrusionOk="0" h="1341120" w="21945600">
                <a:moveTo>
                  <a:pt x="0" y="243840"/>
                </a:moveTo>
                <a:cubicBezTo>
                  <a:pt x="0" y="109220"/>
                  <a:pt x="109220" y="0"/>
                  <a:pt x="243840" y="0"/>
                </a:cubicBezTo>
                <a:lnTo>
                  <a:pt x="21701761" y="0"/>
                </a:lnTo>
                <a:cubicBezTo>
                  <a:pt x="21836380" y="0"/>
                  <a:pt x="21945600" y="109220"/>
                  <a:pt x="21945600" y="243840"/>
                </a:cubicBezTo>
                <a:lnTo>
                  <a:pt x="21945600" y="1097280"/>
                </a:lnTo>
                <a:cubicBezTo>
                  <a:pt x="21945600" y="1231900"/>
                  <a:pt x="21836380" y="1341120"/>
                  <a:pt x="21701761" y="1341120"/>
                </a:cubicBezTo>
                <a:lnTo>
                  <a:pt x="243840" y="1341120"/>
                </a:lnTo>
                <a:cubicBezTo>
                  <a:pt x="109220" y="1341120"/>
                  <a:pt x="0" y="1231900"/>
                  <a:pt x="0" y="109728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9" name="Google Shape;339;p8"/>
          <p:cNvGrpSpPr/>
          <p:nvPr/>
        </p:nvGrpSpPr>
        <p:grpSpPr>
          <a:xfrm>
            <a:off x="1280160" y="8186738"/>
            <a:ext cx="15727680" cy="1048702"/>
            <a:chOff x="0" y="-57150"/>
            <a:chExt cx="20970240" cy="1398270"/>
          </a:xfrm>
        </p:grpSpPr>
        <p:sp>
          <p:nvSpPr>
            <p:cNvPr id="340" name="Google Shape;340;p8"/>
            <p:cNvSpPr/>
            <p:nvPr/>
          </p:nvSpPr>
          <p:spPr>
            <a:xfrm>
              <a:off x="0" y="0"/>
              <a:ext cx="20970239" cy="1341120"/>
            </a:xfrm>
            <a:custGeom>
              <a:rect b="b" l="l" r="r" t="t"/>
              <a:pathLst>
                <a:path extrusionOk="0" h="1341120" w="20970239">
                  <a:moveTo>
                    <a:pt x="0" y="0"/>
                  </a:moveTo>
                  <a:lnTo>
                    <a:pt x="20970239" y="0"/>
                  </a:lnTo>
                  <a:lnTo>
                    <a:pt x="20970239" y="1341120"/>
                  </a:lnTo>
                  <a:lnTo>
                    <a:pt x="0" y="1341120"/>
                  </a:lnTo>
                  <a:close/>
                </a:path>
              </a:pathLst>
            </a:custGeom>
            <a:blipFill rotWithShape="1">
              <a:blip r:embed="rId3">
                <a:alphaModFix amt="0"/>
              </a:blip>
              <a:stretch>
                <a:fillRect b="-254692" l="0" r="0" t="-25469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8"/>
            <p:cNvSpPr txBox="1"/>
            <p:nvPr/>
          </p:nvSpPr>
          <p:spPr>
            <a:xfrm>
              <a:off x="0" y="-57150"/>
              <a:ext cx="20970240" cy="13982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2800">
                  <a:solidFill>
                    <a:srgbClr val="FFFFFF"/>
                  </a:solidFill>
                  <a:latin typeface="Calibri"/>
                  <a:ea typeface="Calibri"/>
                  <a:cs typeface="Calibri"/>
                  <a:sym typeface="Calibri"/>
                </a:rPr>
                <a:t>Tested on 200 unseen orders, then re-checked with 5-fold cross-validation</a:t>
              </a:r>
              <a:endParaRPr/>
            </a:p>
          </p:txBody>
        </p:sp>
      </p:grpSp>
      <p:sp>
        <p:nvSpPr>
          <p:cNvPr id="342" name="Google Shape;342;p8"/>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9"/>
          <p:cNvGrpSpPr/>
          <p:nvPr/>
        </p:nvGrpSpPr>
        <p:grpSpPr>
          <a:xfrm>
            <a:off x="914400" y="541496"/>
            <a:ext cx="16459200" cy="1287304"/>
            <a:chOff x="0" y="-9525"/>
            <a:chExt cx="21945600" cy="1716405"/>
          </a:xfrm>
        </p:grpSpPr>
        <p:sp>
          <p:nvSpPr>
            <p:cNvPr id="348" name="Google Shape;348;p9"/>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9"/>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Model Results</a:t>
              </a:r>
              <a:endParaRPr/>
            </a:p>
          </p:txBody>
        </p:sp>
      </p:grpSp>
      <p:graphicFrame>
        <p:nvGraphicFramePr>
          <p:cNvPr id="350" name="Google Shape;350;p9"/>
          <p:cNvGraphicFramePr/>
          <p:nvPr/>
        </p:nvGraphicFramePr>
        <p:xfrm>
          <a:off x="9692640" y="2926080"/>
          <a:ext cx="3000000" cy="3000000"/>
        </p:xfrm>
        <a:graphic>
          <a:graphicData uri="http://schemas.openxmlformats.org/drawingml/2006/table">
            <a:tbl>
              <a:tblPr>
                <a:noFill/>
                <a:tableStyleId>{65851EFF-ECB7-4A0C-A628-E1CD1D6089D0}</a:tableStyleId>
              </a:tblPr>
              <a:tblGrid>
                <a:gridCol w="3071550"/>
                <a:gridCol w="1375875"/>
                <a:gridCol w="1465125"/>
                <a:gridCol w="1732850"/>
              </a:tblGrid>
              <a:tr h="914400">
                <a:tc>
                  <a:txBody>
                    <a:bodyPr/>
                    <a:lstStyle/>
                    <a:p>
                      <a:pPr indent="0" lvl="0" marL="0" marR="0" rtl="0" algn="l">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Model</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MAE</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RMSE</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R²</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r>
              <a:tr h="914400">
                <a:tc>
                  <a:txBody>
                    <a:bodyPr/>
                    <a:lstStyle/>
                    <a:p>
                      <a:pPr indent="0" lvl="0" marL="0" marR="0" rtl="0" algn="l">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Linear Regression</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6.05</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8.94</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0.822</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r>
              <a:tr h="914400">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XGBoost</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6.66</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9.56</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0.796</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914400">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Random Forest</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6.80</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9.61</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0.794</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914400">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Baseline (mean)</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17.50</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21.23</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-0.006</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bl>
          </a:graphicData>
        </a:graphic>
      </p:graphicFrame>
      <p:sp>
        <p:nvSpPr>
          <p:cNvPr id="351" name="Google Shape;351;p9"/>
          <p:cNvSpPr/>
          <p:nvPr/>
        </p:nvSpPr>
        <p:spPr>
          <a:xfrm>
            <a:off x="914400" y="3108050"/>
            <a:ext cx="7995124" cy="5727501"/>
          </a:xfrm>
          <a:custGeom>
            <a:rect b="b" l="l" r="r" t="t"/>
            <a:pathLst>
              <a:path extrusionOk="0" h="5727501" w="7995124">
                <a:moveTo>
                  <a:pt x="0" y="0"/>
                </a:moveTo>
                <a:lnTo>
                  <a:pt x="7995124" y="0"/>
                </a:lnTo>
                <a:lnTo>
                  <a:pt x="7995124" y="5727501"/>
                </a:lnTo>
                <a:lnTo>
                  <a:pt x="0" y="572750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9"/>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Linear Regression wins: lowest error and R² of 0.822</a:t>
            </a:r>
            <a:endParaRPr/>
          </a:p>
        </p:txBody>
      </p:sp>
      <p:sp>
        <p:nvSpPr>
          <p:cNvPr id="353" name="Google Shape;353;p9"/>
          <p:cNvSpPr txBox="1"/>
          <p:nvPr/>
        </p:nvSpPr>
        <p:spPr>
          <a:xfrm>
            <a:off x="9692640" y="7825740"/>
            <a:ext cx="7680960" cy="14097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lang="en-US" sz="2400">
                <a:solidFill>
                  <a:srgbClr val="6B7280"/>
                </a:solidFill>
                <a:latin typeface="Calibri"/>
                <a:ea typeface="Calibri"/>
                <a:cs typeface="Calibri"/>
                <a:sym typeface="Calibri"/>
              </a:rPr>
              <a:t>MAE and RMSE are in minutes. A baseline R² near 0 means the mean alone explains none of the variation.</a:t>
            </a:r>
            <a:endParaRPr/>
          </a:p>
        </p:txBody>
      </p:sp>
      <p:sp>
        <p:nvSpPr>
          <p:cNvPr id="354" name="Google Shape;354;p9"/>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grpSp>
        <p:nvGrpSpPr>
          <p:cNvPr id="347" name="Google Shape;347;p9"/>
          <p:cNvGrpSpPr/>
          <p:nvPr/>
        </p:nvGrpSpPr>
        <p:grpSpPr>
          <a:xfrm>
            <a:off x="914400" y="541496"/>
            <a:ext cx="16459200" cy="1287304"/>
            <a:chOff x="0" y="-9525"/>
            <a:chExt cx="21945600" cy="1716405"/>
          </a:xfrm>
        </p:grpSpPr>
        <p:sp>
          <p:nvSpPr>
            <p:cNvPr id="348" name="Google Shape;348;p9"/>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9"/>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Cross-Validation</a:t>
              </a:r>
              <a:endParaRPr/>
            </a:p>
          </p:txBody>
        </p:sp>
      </p:grpSp>
      <p:graphicFrame>
        <p:nvGraphicFramePr>
          <p:cNvPr id="350" name="Google Shape;350;p9"/>
          <p:cNvGraphicFramePr/>
          <p:nvPr/>
        </p:nvGraphicFramePr>
        <p:xfrm>
          <a:off x="9692640" y="2926080"/>
          <a:ext cx="7644383" cy="3657600"/>
        </p:xfrm>
        <a:graphic>
          <a:graphicData uri="http://schemas.openxmlformats.org/drawingml/2006/table">
            <a:tbl>
              <a:tblPr>
                <a:noFill/>
                <a:tableStyleId>{65851EFF-ECB7-4A0C-A628-E1CD1D6089D0}</a:tableStyleId>
              </a:tblPr>
              <a:tblGrid>
                <a:gridCol w="4023360"/>
                <a:gridCol w="1737360"/>
                <a:gridCol w="1883664"/>
              </a:tblGrid>
              <a:tr h="914400">
                <a:tc>
                  <a:txBody>
                    <a:bodyPr/>
                    <a:lstStyle/>
                    <a:p>
                      <a:pPr indent="0" lvl="0" marL="0" marR="0" rtl="0" algn="l">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Model (5-fold CV)</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MAE</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R²</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r>
              <a:tr h="914400">
                <a:tc>
                  <a:txBody>
                    <a:bodyPr/>
                    <a:lstStyle/>
                    <a:p>
                      <a:pPr indent="0" lvl="0" marL="0" marR="0" rtl="0" algn="l">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Linear Regression</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6.68</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1F2430"/>
                          </a:solidFill>
                          <a:latin typeface="Calibri"/>
                          <a:ea typeface="Calibri"/>
                          <a:cs typeface="Calibri"/>
                          <a:sym typeface="Calibri"/>
                        </a:rPr>
                        <a:t>0.762</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DE7D9"/>
                    </a:solidFill>
                  </a:tcPr>
                </a:tc>
              </a:tr>
              <a:tr h="914400">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XGBoost</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7.26</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0.737</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914400">
                <a:tc>
                  <a:txBody>
                    <a:bodyPr/>
                    <a:lstStyle/>
                    <a:p>
                      <a:pPr indent="0" lvl="0" marL="0" marR="0" rtl="0" algn="l">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Random Forest</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7.51</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0.723</a:t>
                      </a:r>
                      <a:endParaRPr sz="1100" u="none" cap="none" strike="noStrike"/>
                    </a:p>
                  </a:txBody>
                  <a:tcPr marT="73150" marB="73150" marR="73150" marL="73150"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bl>
          </a:graphicData>
        </a:graphic>
      </p:graphicFrame>
      <p:sp>
        <p:nvSpPr>
          <p:cNvPr id="351" name="Google Shape;351;p9"/>
          <p:cNvSpPr/>
          <p:nvPr/>
        </p:nvSpPr>
        <p:spPr>
          <a:xfrm>
            <a:off x="914400" y="3108050"/>
            <a:ext cx="7995124" cy="5727501"/>
          </a:xfrm>
          <a:custGeom>
            <a:rect b="b" l="l" r="r" t="t"/>
            <a:pathLst>
              <a:path extrusionOk="0" h="5727501" w="7995124">
                <a:moveTo>
                  <a:pt x="0" y="0"/>
                </a:moveTo>
                <a:lnTo>
                  <a:pt x="7995124" y="0"/>
                </a:lnTo>
                <a:lnTo>
                  <a:pt x="7995124" y="5727501"/>
                </a:lnTo>
                <a:lnTo>
                  <a:pt x="0" y="5727501"/>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9"/>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5-fold check: Linear Regression stays on top</a:t>
            </a:r>
            <a:endParaRPr/>
          </a:p>
        </p:txBody>
      </p:sp>
      <p:sp>
        <p:nvSpPr>
          <p:cNvPr id="353" name="Google Shape;353;p9"/>
          <p:cNvSpPr txBox="1"/>
          <p:nvPr/>
        </p:nvSpPr>
        <p:spPr>
          <a:xfrm>
            <a:off x="9692640" y="6903720"/>
            <a:ext cx="7680960" cy="237744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lang="en-US" sz="2400">
                <a:solidFill>
                  <a:srgbClr val="6B7280"/>
                </a:solidFill>
                <a:latin typeface="Calibri"/>
                <a:ea typeface="Calibri"/>
                <a:cs typeface="Calibri"/>
                <a:sym typeface="Calibri"/>
              </a:rPr>
              <a:t>Every order is tested once across 5 rounds, and the 5 scores are averaged. Same ranking as the single split. On new data, expect an error of about 6 to 7 minutes.</a:t>
            </a:r>
            <a:endParaRPr/>
          </a:p>
        </p:txBody>
      </p:sp>
      <p:sp>
        <p:nvSpPr>
          <p:cNvPr id="354" name="Google Shape;354;p9"/>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grpSp>
        <p:nvGrpSpPr>
          <p:cNvPr id="359" name="Google Shape;359;p10"/>
          <p:cNvGrpSpPr/>
          <p:nvPr/>
        </p:nvGrpSpPr>
        <p:grpSpPr>
          <a:xfrm>
            <a:off x="914400" y="541496"/>
            <a:ext cx="16459200" cy="1287304"/>
            <a:chOff x="0" y="-9525"/>
            <a:chExt cx="21945600" cy="1716405"/>
          </a:xfrm>
        </p:grpSpPr>
        <p:sp>
          <p:nvSpPr>
            <p:cNvPr id="360" name="Google Shape;360;p10"/>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0"/>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What the Model Relies On</a:t>
              </a:r>
              <a:endParaRPr/>
            </a:p>
          </p:txBody>
        </p:sp>
      </p:grpSp>
      <p:sp>
        <p:nvSpPr>
          <p:cNvPr id="362" name="Google Shape;362;p10"/>
          <p:cNvSpPr/>
          <p:nvPr/>
        </p:nvSpPr>
        <p:spPr>
          <a:xfrm>
            <a:off x="10698480" y="2560320"/>
            <a:ext cx="5852160" cy="2926080"/>
          </a:xfrm>
          <a:custGeom>
            <a:rect b="b" l="l" r="r" t="t"/>
            <a:pathLst>
              <a:path extrusionOk="0" h="3901440" w="7802880">
                <a:moveTo>
                  <a:pt x="0" y="243840"/>
                </a:moveTo>
                <a:cubicBezTo>
                  <a:pt x="0" y="109220"/>
                  <a:pt x="109220" y="0"/>
                  <a:pt x="243840" y="0"/>
                </a:cubicBezTo>
                <a:lnTo>
                  <a:pt x="7559040" y="0"/>
                </a:lnTo>
                <a:cubicBezTo>
                  <a:pt x="7693660" y="0"/>
                  <a:pt x="7802880" y="109220"/>
                  <a:pt x="7802880" y="243840"/>
                </a:cubicBezTo>
                <a:lnTo>
                  <a:pt x="7802880" y="3657600"/>
                </a:lnTo>
                <a:cubicBezTo>
                  <a:pt x="7802880" y="3792220"/>
                  <a:pt x="7693660" y="3901440"/>
                  <a:pt x="755904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3" name="Google Shape;363;p10"/>
          <p:cNvGrpSpPr/>
          <p:nvPr/>
        </p:nvGrpSpPr>
        <p:grpSpPr>
          <a:xfrm>
            <a:off x="10972800" y="2781071"/>
            <a:ext cx="5577800" cy="1570275"/>
            <a:chOff x="0" y="-71425"/>
            <a:chExt cx="7437067" cy="2093700"/>
          </a:xfrm>
        </p:grpSpPr>
        <p:sp>
          <p:nvSpPr>
            <p:cNvPr id="364" name="Google Shape;364;p10"/>
            <p:cNvSpPr/>
            <p:nvPr/>
          </p:nvSpPr>
          <p:spPr>
            <a:xfrm>
              <a:off x="0" y="0"/>
              <a:ext cx="7071360" cy="1950720"/>
            </a:xfrm>
            <a:custGeom>
              <a:rect b="b" l="l" r="r" t="t"/>
              <a:pathLst>
                <a:path extrusionOk="0" h="1950720" w="7071360">
                  <a:moveTo>
                    <a:pt x="0" y="0"/>
                  </a:moveTo>
                  <a:lnTo>
                    <a:pt x="7071360" y="0"/>
                  </a:lnTo>
                  <a:lnTo>
                    <a:pt x="7071360" y="1950720"/>
                  </a:lnTo>
                  <a:lnTo>
                    <a:pt x="0" y="1950720"/>
                  </a:lnTo>
                  <a:close/>
                </a:path>
              </a:pathLst>
            </a:custGeom>
            <a:blipFill rotWithShape="1">
              <a:blip r:embed="rId3">
                <a:alphaModFix amt="0"/>
              </a:blip>
              <a:stretch>
                <a:fillRect b="-20633" l="0" r="0" t="-2063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0"/>
            <p:cNvSpPr txBox="1"/>
            <p:nvPr/>
          </p:nvSpPr>
          <p:spPr>
            <a:xfrm>
              <a:off x="365767" y="-71425"/>
              <a:ext cx="7071300" cy="2093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+17.6 min</a:t>
              </a:r>
              <a:endParaRPr/>
            </a:p>
          </p:txBody>
        </p:sp>
      </p:grpSp>
      <p:sp>
        <p:nvSpPr>
          <p:cNvPr id="366" name="Google Shape;366;p10"/>
          <p:cNvSpPr/>
          <p:nvPr/>
        </p:nvSpPr>
        <p:spPr>
          <a:xfrm>
            <a:off x="10698480" y="5943600"/>
            <a:ext cx="5852160" cy="2926080"/>
          </a:xfrm>
          <a:custGeom>
            <a:rect b="b" l="l" r="r" t="t"/>
            <a:pathLst>
              <a:path extrusionOk="0" h="3901440" w="7802880">
                <a:moveTo>
                  <a:pt x="0" y="243840"/>
                </a:moveTo>
                <a:cubicBezTo>
                  <a:pt x="0" y="109220"/>
                  <a:pt x="109220" y="0"/>
                  <a:pt x="243840" y="0"/>
                </a:cubicBezTo>
                <a:lnTo>
                  <a:pt x="7559040" y="0"/>
                </a:lnTo>
                <a:cubicBezTo>
                  <a:pt x="7693660" y="0"/>
                  <a:pt x="7802880" y="109220"/>
                  <a:pt x="7802880" y="243840"/>
                </a:cubicBezTo>
                <a:lnTo>
                  <a:pt x="7802880" y="3657600"/>
                </a:lnTo>
                <a:cubicBezTo>
                  <a:pt x="7802880" y="3792220"/>
                  <a:pt x="7693660" y="3901440"/>
                  <a:pt x="7559040" y="3901440"/>
                </a:cubicBezTo>
                <a:lnTo>
                  <a:pt x="243840" y="3901440"/>
                </a:lnTo>
                <a:cubicBezTo>
                  <a:pt x="109220" y="3901440"/>
                  <a:pt x="0" y="3792220"/>
                  <a:pt x="0" y="365760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67" name="Google Shape;367;p10"/>
          <p:cNvGrpSpPr/>
          <p:nvPr/>
        </p:nvGrpSpPr>
        <p:grpSpPr>
          <a:xfrm>
            <a:off x="10972800" y="6217920"/>
            <a:ext cx="5775325" cy="1656794"/>
            <a:chOff x="0" y="0"/>
            <a:chExt cx="7700433" cy="2209058"/>
          </a:xfrm>
        </p:grpSpPr>
        <p:sp>
          <p:nvSpPr>
            <p:cNvPr id="368" name="Google Shape;368;p10"/>
            <p:cNvSpPr/>
            <p:nvPr/>
          </p:nvSpPr>
          <p:spPr>
            <a:xfrm>
              <a:off x="0" y="0"/>
              <a:ext cx="7071360" cy="1950720"/>
            </a:xfrm>
            <a:custGeom>
              <a:rect b="b" l="l" r="r" t="t"/>
              <a:pathLst>
                <a:path extrusionOk="0" h="1950720" w="7071360">
                  <a:moveTo>
                    <a:pt x="0" y="0"/>
                  </a:moveTo>
                  <a:lnTo>
                    <a:pt x="7071360" y="0"/>
                  </a:lnTo>
                  <a:lnTo>
                    <a:pt x="7071360" y="1950720"/>
                  </a:lnTo>
                  <a:lnTo>
                    <a:pt x="0" y="1950720"/>
                  </a:lnTo>
                  <a:close/>
                </a:path>
              </a:pathLst>
            </a:custGeom>
            <a:blipFill rotWithShape="1">
              <a:blip r:embed="rId3">
                <a:alphaModFix amt="0"/>
              </a:blip>
              <a:stretch>
                <a:fillRect b="-20633" l="0" r="0" t="-2063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0"/>
            <p:cNvSpPr txBox="1"/>
            <p:nvPr/>
          </p:nvSpPr>
          <p:spPr>
            <a:xfrm>
              <a:off x="629133" y="115358"/>
              <a:ext cx="7071300" cy="2093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7200">
                  <a:solidFill>
                    <a:srgbClr val="F25C05"/>
                  </a:solidFill>
                  <a:latin typeface="Calibri"/>
                  <a:ea typeface="Calibri"/>
                  <a:cs typeface="Calibri"/>
                  <a:sym typeface="Calibri"/>
                </a:rPr>
                <a:t>+7.0 min</a:t>
              </a:r>
              <a:endParaRPr/>
            </a:p>
          </p:txBody>
        </p:sp>
      </p:grpSp>
      <p:sp>
        <p:nvSpPr>
          <p:cNvPr id="370" name="Google Shape;370;p10"/>
          <p:cNvSpPr txBox="1"/>
          <p:nvPr/>
        </p:nvSpPr>
        <p:spPr>
          <a:xfrm>
            <a:off x="914400" y="1771650"/>
            <a:ext cx="16459200" cy="492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Linear Regression shows the same story: distance and preparation time lead </a:t>
            </a:r>
            <a:endParaRPr/>
          </a:p>
        </p:txBody>
      </p:sp>
      <p:sp>
        <p:nvSpPr>
          <p:cNvPr id="371" name="Google Shape;371;p10"/>
          <p:cNvSpPr txBox="1"/>
          <p:nvPr/>
        </p:nvSpPr>
        <p:spPr>
          <a:xfrm>
            <a:off x="914400" y="9014460"/>
            <a:ext cx="14630400" cy="67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000">
                <a:solidFill>
                  <a:srgbClr val="6B7280"/>
                </a:solidFill>
                <a:latin typeface="Calibri"/>
                <a:ea typeface="Calibri"/>
                <a:cs typeface="Calibri"/>
                <a:sym typeface="Calibri"/>
              </a:rPr>
              <a:t>Change in delivery time (min) per +1 standard deviation of the feature </a:t>
            </a:r>
            <a:endParaRPr sz="2000">
              <a:solidFill>
                <a:srgbClr val="6B7280"/>
              </a:solidFill>
              <a:latin typeface="Calibri"/>
              <a:ea typeface="Calibri"/>
              <a:cs typeface="Calibri"/>
              <a:sym typeface="Calibri"/>
            </a:endParaRPr>
          </a:p>
          <a:p>
            <a:pPr indent="0" lvl="0" marL="0" marR="0" rtl="0" algn="l">
              <a:lnSpc>
                <a:spcPct val="120000"/>
              </a:lnSpc>
              <a:spcBef>
                <a:spcPts val="0"/>
              </a:spcBef>
              <a:spcAft>
                <a:spcPts val="0"/>
              </a:spcAft>
              <a:buNone/>
            </a:pPr>
            <a:r>
              <a:rPr lang="en-US" sz="2000">
                <a:solidFill>
                  <a:srgbClr val="6B7280"/>
                </a:solidFill>
                <a:latin typeface="Calibri"/>
                <a:ea typeface="Calibri"/>
                <a:cs typeface="Calibri"/>
                <a:sym typeface="Calibri"/>
              </a:rPr>
              <a:t>1 std dev of distance ≈ 5.73 km, so each extra km adds about 3 min</a:t>
            </a:r>
            <a:endParaRPr sz="2000">
              <a:solidFill>
                <a:srgbClr val="6B7280"/>
              </a:solidFill>
              <a:latin typeface="Calibri"/>
              <a:ea typeface="Calibri"/>
              <a:cs typeface="Calibri"/>
              <a:sym typeface="Calibri"/>
            </a:endParaRPr>
          </a:p>
        </p:txBody>
      </p:sp>
      <p:sp>
        <p:nvSpPr>
          <p:cNvPr id="372" name="Google Shape;372;p10"/>
          <p:cNvSpPr txBox="1"/>
          <p:nvPr/>
        </p:nvSpPr>
        <p:spPr>
          <a:xfrm>
            <a:off x="10972800" y="4231005"/>
            <a:ext cx="5303400" cy="4308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Distance, per +1 std dev </a:t>
            </a:r>
            <a:endParaRPr/>
          </a:p>
        </p:txBody>
      </p:sp>
      <p:sp>
        <p:nvSpPr>
          <p:cNvPr id="373" name="Google Shape;373;p10"/>
          <p:cNvSpPr txBox="1"/>
          <p:nvPr/>
        </p:nvSpPr>
        <p:spPr>
          <a:xfrm>
            <a:off x="10972800" y="7614285"/>
            <a:ext cx="5303400" cy="4308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Preparation time, per +1 std dev </a:t>
            </a:r>
            <a:endParaRPr/>
          </a:p>
        </p:txBody>
      </p:sp>
      <p:sp>
        <p:nvSpPr>
          <p:cNvPr id="374" name="Google Shape;374;p10"/>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11</a:t>
            </a:r>
            <a:endParaRPr/>
          </a:p>
        </p:txBody>
      </p:sp>
      <p:pic>
        <p:nvPicPr>
          <p:cNvPr id="375" name="Google Shape;375;p10"/>
          <p:cNvPicPr preferRelativeResize="0"/>
          <p:nvPr/>
        </p:nvPicPr>
        <p:blipFill>
          <a:blip r:embed="rId5">
            <a:alphaModFix/>
          </a:blip>
          <a:stretch>
            <a:fillRect/>
          </a:stretch>
        </p:blipFill>
        <p:spPr>
          <a:xfrm>
            <a:off x="731825" y="2770902"/>
            <a:ext cx="9379467" cy="53014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grpSp>
        <p:nvGrpSpPr>
          <p:cNvPr id="380" name="Google Shape;380;p11"/>
          <p:cNvGrpSpPr/>
          <p:nvPr/>
        </p:nvGrpSpPr>
        <p:grpSpPr>
          <a:xfrm>
            <a:off x="914400" y="541496"/>
            <a:ext cx="16459200" cy="1287304"/>
            <a:chOff x="0" y="-9525"/>
            <a:chExt cx="21945600" cy="1716405"/>
          </a:xfrm>
        </p:grpSpPr>
        <p:sp>
          <p:nvSpPr>
            <p:cNvPr id="381" name="Google Shape;381;p11"/>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1"/>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Actual vs Predicted</a:t>
              </a:r>
              <a:endParaRPr/>
            </a:p>
          </p:txBody>
        </p:sp>
      </p:grpSp>
      <p:sp>
        <p:nvSpPr>
          <p:cNvPr id="383" name="Google Shape;383;p11"/>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Linear Regression predictions track real delivery times closely</a:t>
            </a:r>
            <a:endParaRPr/>
          </a:p>
        </p:txBody>
      </p:sp>
      <p:sp>
        <p:nvSpPr>
          <p:cNvPr descr="Scatter plot of actual versus predicted delivery time with ideal line" id="384" name="Google Shape;384;p11"/>
          <p:cNvSpPr/>
          <p:nvPr/>
        </p:nvSpPr>
        <p:spPr>
          <a:xfrm>
            <a:off x="2011680" y="2834640"/>
            <a:ext cx="6035040" cy="5783580"/>
          </a:xfrm>
          <a:custGeom>
            <a:rect b="b" l="l" r="r" t="t"/>
            <a:pathLst>
              <a:path extrusionOk="0" h="7711440" w="8046720">
                <a:moveTo>
                  <a:pt x="0" y="0"/>
                </a:moveTo>
                <a:lnTo>
                  <a:pt x="8046720" y="0"/>
                </a:lnTo>
                <a:lnTo>
                  <a:pt x="8046720" y="7711440"/>
                </a:lnTo>
                <a:lnTo>
                  <a:pt x="0" y="771144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5" name="Google Shape;385;p11"/>
          <p:cNvGrpSpPr/>
          <p:nvPr/>
        </p:nvGrpSpPr>
        <p:grpSpPr>
          <a:xfrm>
            <a:off x="2011680" y="8681085"/>
            <a:ext cx="6035040" cy="577215"/>
            <a:chOff x="0" y="-38100"/>
            <a:chExt cx="8046720" cy="769620"/>
          </a:xfrm>
        </p:grpSpPr>
        <p:sp>
          <p:nvSpPr>
            <p:cNvPr id="386" name="Google Shape;386;p11"/>
            <p:cNvSpPr/>
            <p:nvPr/>
          </p:nvSpPr>
          <p:spPr>
            <a:xfrm>
              <a:off x="0" y="0"/>
              <a:ext cx="8046720" cy="731520"/>
            </a:xfrm>
            <a:custGeom>
              <a:rect b="b" l="l" r="r" t="t"/>
              <a:pathLst>
                <a:path extrusionOk="0" h="731520" w="8046720">
                  <a:moveTo>
                    <a:pt x="0" y="0"/>
                  </a:moveTo>
                  <a:lnTo>
                    <a:pt x="8046720" y="0"/>
                  </a:lnTo>
                  <a:lnTo>
                    <a:pt x="8046720" y="731520"/>
                  </a:lnTo>
                  <a:lnTo>
                    <a:pt x="0" y="731520"/>
                  </a:lnTo>
                  <a:close/>
                </a:path>
              </a:pathLst>
            </a:custGeom>
            <a:blipFill rotWithShape="1">
              <a:blip r:embed="rId3">
                <a:alphaModFix amt="0"/>
              </a:blip>
              <a:stretch>
                <a:fillRect b="-164335" l="0" r="0" t="-1643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1"/>
            <p:cNvSpPr txBox="1"/>
            <p:nvPr/>
          </p:nvSpPr>
          <p:spPr>
            <a:xfrm>
              <a:off x="0" y="-38100"/>
              <a:ext cx="8046720" cy="769620"/>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lang="en-US" sz="2400">
                  <a:solidFill>
                    <a:srgbClr val="6B7280"/>
                  </a:solidFill>
                  <a:latin typeface="Calibri"/>
                  <a:ea typeface="Calibri"/>
                  <a:cs typeface="Calibri"/>
                  <a:sym typeface="Calibri"/>
                </a:rPr>
                <a:t>Actual (min)</a:t>
              </a:r>
              <a:endParaRPr/>
            </a:p>
          </p:txBody>
        </p:sp>
      </p:grpSp>
      <p:grpSp>
        <p:nvGrpSpPr>
          <p:cNvPr id="388" name="Google Shape;388;p11"/>
          <p:cNvGrpSpPr/>
          <p:nvPr/>
        </p:nvGrpSpPr>
        <p:grpSpPr>
          <a:xfrm rot="-5400000">
            <a:off x="-837248" y="5437823"/>
            <a:ext cx="3840480" cy="577215"/>
            <a:chOff x="0" y="-38100"/>
            <a:chExt cx="5120640" cy="769620"/>
          </a:xfrm>
        </p:grpSpPr>
        <p:sp>
          <p:nvSpPr>
            <p:cNvPr id="389" name="Google Shape;389;p11"/>
            <p:cNvSpPr/>
            <p:nvPr/>
          </p:nvSpPr>
          <p:spPr>
            <a:xfrm>
              <a:off x="0" y="0"/>
              <a:ext cx="5120640" cy="731520"/>
            </a:xfrm>
            <a:custGeom>
              <a:rect b="b" l="l" r="r" t="t"/>
              <a:pathLst>
                <a:path extrusionOk="0" h="731520" w="5120640">
                  <a:moveTo>
                    <a:pt x="0" y="0"/>
                  </a:moveTo>
                  <a:lnTo>
                    <a:pt x="5120640" y="0"/>
                  </a:lnTo>
                  <a:lnTo>
                    <a:pt x="5120640" y="731520"/>
                  </a:lnTo>
                  <a:lnTo>
                    <a:pt x="0" y="731520"/>
                  </a:lnTo>
                  <a:close/>
                </a:path>
              </a:pathLst>
            </a:custGeom>
            <a:blipFill rotWithShape="1">
              <a:blip r:embed="rId3">
                <a:alphaModFix amt="0"/>
              </a:blip>
              <a:stretch>
                <a:fillRect b="-86396" l="0" r="0" t="-863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1"/>
            <p:cNvSpPr txBox="1"/>
            <p:nvPr/>
          </p:nvSpPr>
          <p:spPr>
            <a:xfrm>
              <a:off x="0" y="-38100"/>
              <a:ext cx="5120640" cy="769620"/>
            </a:xfrm>
            <a:prstGeom prst="rect">
              <a:avLst/>
            </a:prstGeom>
            <a:noFill/>
            <a:ln>
              <a:noFill/>
            </a:ln>
          </p:spPr>
          <p:txBody>
            <a:bodyPr anchorCtr="0" anchor="ctr" bIns="0" lIns="0" spcFirstLastPara="1" rIns="0" wrap="square" tIns="0">
              <a:noAutofit/>
            </a:bodyPr>
            <a:lstStyle/>
            <a:p>
              <a:pPr indent="0" lvl="0" marL="0" marR="0" rtl="0" algn="ctr">
                <a:lnSpc>
                  <a:spcPct val="119958"/>
                </a:lnSpc>
                <a:spcBef>
                  <a:spcPts val="0"/>
                </a:spcBef>
                <a:spcAft>
                  <a:spcPts val="0"/>
                </a:spcAft>
                <a:buNone/>
              </a:pPr>
              <a:r>
                <a:rPr lang="en-US" sz="2400">
                  <a:solidFill>
                    <a:srgbClr val="6B7280"/>
                  </a:solidFill>
                  <a:latin typeface="Calibri"/>
                  <a:ea typeface="Calibri"/>
                  <a:cs typeface="Calibri"/>
                  <a:sym typeface="Calibri"/>
                </a:rPr>
                <a:t>Predicted (min)</a:t>
              </a:r>
              <a:endParaRPr/>
            </a:p>
          </p:txBody>
        </p:sp>
      </p:grpSp>
      <p:sp>
        <p:nvSpPr>
          <p:cNvPr id="391" name="Google Shape;391;p11"/>
          <p:cNvSpPr/>
          <p:nvPr/>
        </p:nvSpPr>
        <p:spPr>
          <a:xfrm>
            <a:off x="9509760" y="310896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oint 1 icon" id="392" name="Google Shape;392;p11"/>
          <p:cNvSpPr/>
          <p:nvPr/>
        </p:nvSpPr>
        <p:spPr>
          <a:xfrm>
            <a:off x="9784080" y="3383280"/>
            <a:ext cx="548640" cy="548640"/>
          </a:xfrm>
          <a:custGeom>
            <a:rect b="b" l="l" r="r" t="t"/>
            <a:pathLst>
              <a:path extrusionOk="0" h="731520" w="731520">
                <a:moveTo>
                  <a:pt x="0" y="0"/>
                </a:moveTo>
                <a:lnTo>
                  <a:pt x="731520" y="0"/>
                </a:lnTo>
                <a:lnTo>
                  <a:pt x="731520" y="731520"/>
                </a:lnTo>
                <a:lnTo>
                  <a:pt x="0" y="7315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3" name="Google Shape;393;p11"/>
          <p:cNvGrpSpPr/>
          <p:nvPr/>
        </p:nvGrpSpPr>
        <p:grpSpPr>
          <a:xfrm>
            <a:off x="10972800" y="2876074"/>
            <a:ext cx="6400800" cy="1878806"/>
            <a:chOff x="0" y="-66675"/>
            <a:chExt cx="8534400" cy="2505075"/>
          </a:xfrm>
        </p:grpSpPr>
        <p:sp>
          <p:nvSpPr>
            <p:cNvPr id="394" name="Google Shape;394;p11"/>
            <p:cNvSpPr/>
            <p:nvPr/>
          </p:nvSpPr>
          <p:spPr>
            <a:xfrm>
              <a:off x="0" y="0"/>
              <a:ext cx="8534400" cy="2438400"/>
            </a:xfrm>
            <a:custGeom>
              <a:rect b="b" l="l" r="r" t="t"/>
              <a:pathLst>
                <a:path extrusionOk="0" h="2438400" w="8534400">
                  <a:moveTo>
                    <a:pt x="0" y="0"/>
                  </a:moveTo>
                  <a:lnTo>
                    <a:pt x="8534400" y="0"/>
                  </a:lnTo>
                  <a:lnTo>
                    <a:pt x="8534400" y="2438400"/>
                  </a:lnTo>
                  <a:lnTo>
                    <a:pt x="0" y="2438400"/>
                  </a:lnTo>
                  <a:close/>
                </a:path>
              </a:pathLst>
            </a:custGeom>
            <a:blipFill rotWithShape="1">
              <a:blip r:embed="rId3">
                <a:alphaModFix amt="0"/>
              </a:blip>
              <a:stretch>
                <a:fillRect b="-18196" l="0" r="0" t="-1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1"/>
            <p:cNvSpPr txBox="1"/>
            <p:nvPr/>
          </p:nvSpPr>
          <p:spPr>
            <a:xfrm>
              <a:off x="0" y="-66675"/>
              <a:ext cx="8534400" cy="25050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On the line: </a:t>
              </a:r>
              <a:r>
                <a:rPr lang="en-US" sz="2799">
                  <a:solidFill>
                    <a:srgbClr val="1F2430"/>
                  </a:solidFill>
                  <a:latin typeface="Calibri"/>
                  <a:ea typeface="Calibri"/>
                  <a:cs typeface="Calibri"/>
                  <a:sym typeface="Calibri"/>
                </a:rPr>
                <a:t>most points sit close to the ideal red dashed line.</a:t>
              </a:r>
              <a:endParaRPr/>
            </a:p>
          </p:txBody>
        </p:sp>
      </p:grpSp>
      <p:sp>
        <p:nvSpPr>
          <p:cNvPr id="396" name="Google Shape;396;p11"/>
          <p:cNvSpPr/>
          <p:nvPr/>
        </p:nvSpPr>
        <p:spPr>
          <a:xfrm>
            <a:off x="9509760" y="521208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oint 2 icon" id="397" name="Google Shape;397;p11"/>
          <p:cNvSpPr/>
          <p:nvPr/>
        </p:nvSpPr>
        <p:spPr>
          <a:xfrm>
            <a:off x="9784080" y="5486400"/>
            <a:ext cx="548640" cy="548640"/>
          </a:xfrm>
          <a:custGeom>
            <a:rect b="b" l="l" r="r" t="t"/>
            <a:pathLst>
              <a:path extrusionOk="0" h="731520" w="731520">
                <a:moveTo>
                  <a:pt x="0" y="0"/>
                </a:moveTo>
                <a:lnTo>
                  <a:pt x="731520" y="0"/>
                </a:lnTo>
                <a:lnTo>
                  <a:pt x="731520" y="731520"/>
                </a:lnTo>
                <a:lnTo>
                  <a:pt x="0" y="73152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8" name="Google Shape;398;p11"/>
          <p:cNvGrpSpPr/>
          <p:nvPr/>
        </p:nvGrpSpPr>
        <p:grpSpPr>
          <a:xfrm>
            <a:off x="10972800" y="4979194"/>
            <a:ext cx="6400800" cy="1878806"/>
            <a:chOff x="0" y="-66675"/>
            <a:chExt cx="8534400" cy="2505075"/>
          </a:xfrm>
        </p:grpSpPr>
        <p:sp>
          <p:nvSpPr>
            <p:cNvPr id="399" name="Google Shape;399;p11"/>
            <p:cNvSpPr/>
            <p:nvPr/>
          </p:nvSpPr>
          <p:spPr>
            <a:xfrm>
              <a:off x="0" y="0"/>
              <a:ext cx="8534400" cy="2438400"/>
            </a:xfrm>
            <a:custGeom>
              <a:rect b="b" l="l" r="r" t="t"/>
              <a:pathLst>
                <a:path extrusionOk="0" h="2438400" w="8534400">
                  <a:moveTo>
                    <a:pt x="0" y="0"/>
                  </a:moveTo>
                  <a:lnTo>
                    <a:pt x="8534400" y="0"/>
                  </a:lnTo>
                  <a:lnTo>
                    <a:pt x="8534400" y="2438400"/>
                  </a:lnTo>
                  <a:lnTo>
                    <a:pt x="0" y="2438400"/>
                  </a:lnTo>
                  <a:close/>
                </a:path>
              </a:pathLst>
            </a:custGeom>
            <a:blipFill rotWithShape="1">
              <a:blip r:embed="rId3">
                <a:alphaModFix amt="0"/>
              </a:blip>
              <a:stretch>
                <a:fillRect b="-18196" l="0" r="0" t="-1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1"/>
            <p:cNvSpPr txBox="1"/>
            <p:nvPr/>
          </p:nvSpPr>
          <p:spPr>
            <a:xfrm>
              <a:off x="0" y="-66675"/>
              <a:ext cx="8534400" cy="25050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Typical error: </a:t>
              </a:r>
              <a:r>
                <a:rPr lang="en-US" sz="2799">
                  <a:solidFill>
                    <a:srgbClr val="1F2430"/>
                  </a:solidFill>
                  <a:latin typeface="Calibri"/>
                  <a:ea typeface="Calibri"/>
                  <a:cs typeface="Calibri"/>
                  <a:sym typeface="Calibri"/>
                </a:rPr>
                <a:t>MAE of 6.05 min, RMSE of 8.94 min.</a:t>
              </a:r>
              <a:endParaRPr/>
            </a:p>
          </p:txBody>
        </p:sp>
      </p:grpSp>
      <p:sp>
        <p:nvSpPr>
          <p:cNvPr id="401" name="Google Shape;401;p11"/>
          <p:cNvSpPr/>
          <p:nvPr/>
        </p:nvSpPr>
        <p:spPr>
          <a:xfrm>
            <a:off x="9509760" y="7315200"/>
            <a:ext cx="1097280" cy="1097280"/>
          </a:xfrm>
          <a:custGeom>
            <a:rect b="b" l="l" r="r" t="t"/>
            <a:pathLst>
              <a:path extrusionOk="0"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E6394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oint 3 icon" id="402" name="Google Shape;402;p11"/>
          <p:cNvSpPr/>
          <p:nvPr/>
        </p:nvSpPr>
        <p:spPr>
          <a:xfrm>
            <a:off x="9784080" y="7589520"/>
            <a:ext cx="548640" cy="548640"/>
          </a:xfrm>
          <a:custGeom>
            <a:rect b="b" l="l" r="r" t="t"/>
            <a:pathLst>
              <a:path extrusionOk="0" h="731520" w="731520">
                <a:moveTo>
                  <a:pt x="0" y="0"/>
                </a:moveTo>
                <a:lnTo>
                  <a:pt x="731520" y="0"/>
                </a:lnTo>
                <a:lnTo>
                  <a:pt x="731520" y="731520"/>
                </a:lnTo>
                <a:lnTo>
                  <a:pt x="0" y="73152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3" name="Google Shape;403;p11"/>
          <p:cNvGrpSpPr/>
          <p:nvPr/>
        </p:nvGrpSpPr>
        <p:grpSpPr>
          <a:xfrm>
            <a:off x="10972800" y="7082314"/>
            <a:ext cx="6400800" cy="1878806"/>
            <a:chOff x="0" y="-66675"/>
            <a:chExt cx="8534400" cy="2505075"/>
          </a:xfrm>
        </p:grpSpPr>
        <p:sp>
          <p:nvSpPr>
            <p:cNvPr id="404" name="Google Shape;404;p11"/>
            <p:cNvSpPr/>
            <p:nvPr/>
          </p:nvSpPr>
          <p:spPr>
            <a:xfrm>
              <a:off x="0" y="0"/>
              <a:ext cx="8534400" cy="2438400"/>
            </a:xfrm>
            <a:custGeom>
              <a:rect b="b" l="l" r="r" t="t"/>
              <a:pathLst>
                <a:path extrusionOk="0" h="2438400" w="8534400">
                  <a:moveTo>
                    <a:pt x="0" y="0"/>
                  </a:moveTo>
                  <a:lnTo>
                    <a:pt x="8534400" y="0"/>
                  </a:lnTo>
                  <a:lnTo>
                    <a:pt x="8534400" y="2438400"/>
                  </a:lnTo>
                  <a:lnTo>
                    <a:pt x="0" y="2438400"/>
                  </a:lnTo>
                  <a:close/>
                </a:path>
              </a:pathLst>
            </a:custGeom>
            <a:blipFill rotWithShape="1">
              <a:blip r:embed="rId3">
                <a:alphaModFix amt="0"/>
              </a:blip>
              <a:stretch>
                <a:fillRect b="-18196" l="0" r="0" t="-1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1"/>
            <p:cNvSpPr txBox="1"/>
            <p:nvPr/>
          </p:nvSpPr>
          <p:spPr>
            <a:xfrm>
              <a:off x="0" y="-66675"/>
              <a:ext cx="8534400" cy="25050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2799">
                  <a:solidFill>
                    <a:srgbClr val="1F2430"/>
                  </a:solidFill>
                  <a:latin typeface="Calibri"/>
                  <a:ea typeface="Calibri"/>
                  <a:cs typeface="Calibri"/>
                  <a:sym typeface="Calibri"/>
                </a:rPr>
                <a:t>Watch out: </a:t>
              </a:r>
              <a:r>
                <a:rPr lang="en-US" sz="2799">
                  <a:solidFill>
                    <a:srgbClr val="1F2430"/>
                  </a:solidFill>
                  <a:latin typeface="Calibri"/>
                  <a:ea typeface="Calibri"/>
                  <a:cs typeface="Calibri"/>
                  <a:sym typeface="Calibri"/>
                </a:rPr>
                <a:t>5 of 200 orders came in 20+ min later than predicted, mostly in bad weather and heavy traffic.</a:t>
              </a:r>
              <a:endParaRPr/>
            </a:p>
          </p:txBody>
        </p:sp>
      </p:grpSp>
      <p:sp>
        <p:nvSpPr>
          <p:cNvPr id="406" name="Google Shape;406;p11"/>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grpSp>
        <p:nvGrpSpPr>
          <p:cNvPr id="411" name="Google Shape;411;p12"/>
          <p:cNvGrpSpPr/>
          <p:nvPr/>
        </p:nvGrpSpPr>
        <p:grpSpPr>
          <a:xfrm>
            <a:off x="914400" y="541496"/>
            <a:ext cx="16459200" cy="1287304"/>
            <a:chOff x="0" y="-9525"/>
            <a:chExt cx="21945600" cy="1716405"/>
          </a:xfrm>
        </p:grpSpPr>
        <p:sp>
          <p:nvSpPr>
            <p:cNvPr id="412" name="Google Shape;412;p12"/>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2"/>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Sample Predictions</a:t>
              </a:r>
              <a:endParaRPr/>
            </a:p>
          </p:txBody>
        </p:sp>
      </p:grpSp>
      <p:sp>
        <p:nvSpPr>
          <p:cNvPr id="414" name="Google Shape;414;p12"/>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Applying the saved preprocessing and the Linear Regression model to new orders</a:t>
            </a:r>
            <a:endParaRPr/>
          </a:p>
        </p:txBody>
      </p:sp>
      <p:graphicFrame>
        <p:nvGraphicFramePr>
          <p:cNvPr id="415" name="Google Shape;415;p12"/>
          <p:cNvGraphicFramePr/>
          <p:nvPr/>
        </p:nvGraphicFramePr>
        <p:xfrm>
          <a:off x="914400" y="3108960"/>
          <a:ext cx="3000000" cy="3000000"/>
        </p:xfrm>
        <a:graphic>
          <a:graphicData uri="http://schemas.openxmlformats.org/drawingml/2006/table">
            <a:tbl>
              <a:tblPr>
                <a:noFill/>
                <a:tableStyleId>{65851EFF-ECB7-4A0C-A628-E1CD1D6089D0}</a:tableStyleId>
              </a:tblPr>
              <a:tblGrid>
                <a:gridCol w="1830125"/>
                <a:gridCol w="1830125"/>
                <a:gridCol w="1830125"/>
                <a:gridCol w="2099050"/>
                <a:gridCol w="1830125"/>
                <a:gridCol w="1830125"/>
                <a:gridCol w="2457600"/>
                <a:gridCol w="2726525"/>
              </a:tblGrid>
              <a:tr h="1092200">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Dist. (km)</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Weather</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Traffic</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Time of day</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Vehicle</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Prep (min)</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Experience (yrs)</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400" u="none" cap="none" strike="noStrike">
                          <a:solidFill>
                            <a:srgbClr val="FFFFFF"/>
                          </a:solidFill>
                          <a:latin typeface="Calibri"/>
                          <a:ea typeface="Calibri"/>
                          <a:cs typeface="Calibri"/>
                          <a:sym typeface="Calibri"/>
                        </a:rPr>
                        <a:t>Predicted (min)</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r>
              <a:tr h="1092200">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5.0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Clear</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Low</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Morning</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Bike</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3.0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28.9</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25C05"/>
                    </a:solidFill>
                  </a:tcPr>
                </a:tc>
              </a:tr>
              <a:tr h="1092200">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12.5</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Rainy</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High</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Evening</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Scooter</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20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78.2</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25C05"/>
                    </a:solidFill>
                  </a:tcPr>
                </a:tc>
              </a:tr>
              <a:tr h="1092200">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20.0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Foggy</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Medium</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Night</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Car</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25</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5.0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98.0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25C05"/>
                    </a:solidFill>
                  </a:tcPr>
                </a:tc>
              </a:tr>
            </a:tbl>
          </a:graphicData>
        </a:graphic>
      </p:graphicFrame>
      <p:sp>
        <p:nvSpPr>
          <p:cNvPr id="416" name="Google Shape;416;p12"/>
          <p:cNvSpPr/>
          <p:nvPr/>
        </p:nvSpPr>
        <p:spPr>
          <a:xfrm>
            <a:off x="914400" y="7863840"/>
            <a:ext cx="16459200" cy="1371600"/>
          </a:xfrm>
          <a:custGeom>
            <a:rect b="b" l="l" r="r" t="t"/>
            <a:pathLst>
              <a:path extrusionOk="0" h="1828800" w="21945600">
                <a:moveTo>
                  <a:pt x="0" y="243840"/>
                </a:moveTo>
                <a:cubicBezTo>
                  <a:pt x="0" y="109220"/>
                  <a:pt x="109220" y="0"/>
                  <a:pt x="243840" y="0"/>
                </a:cubicBezTo>
                <a:lnTo>
                  <a:pt x="21701761" y="0"/>
                </a:lnTo>
                <a:cubicBezTo>
                  <a:pt x="21836380" y="0"/>
                  <a:pt x="21945600" y="109220"/>
                  <a:pt x="21945600" y="243840"/>
                </a:cubicBezTo>
                <a:lnTo>
                  <a:pt x="21945600" y="1584960"/>
                </a:lnTo>
                <a:cubicBezTo>
                  <a:pt x="21945600" y="1719580"/>
                  <a:pt x="21836380" y="1828800"/>
                  <a:pt x="21701761" y="1828800"/>
                </a:cubicBezTo>
                <a:lnTo>
                  <a:pt x="243840" y="1828800"/>
                </a:lnTo>
                <a:cubicBezTo>
                  <a:pt x="109220" y="1828800"/>
                  <a:pt x="0" y="1719580"/>
                  <a:pt x="0" y="158496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7" name="Google Shape;417;p12"/>
          <p:cNvGrpSpPr/>
          <p:nvPr/>
        </p:nvGrpSpPr>
        <p:grpSpPr>
          <a:xfrm>
            <a:off x="1280160" y="7813834"/>
            <a:ext cx="15727680" cy="1421606"/>
            <a:chOff x="0" y="-66675"/>
            <a:chExt cx="20970240" cy="1895475"/>
          </a:xfrm>
        </p:grpSpPr>
        <p:sp>
          <p:nvSpPr>
            <p:cNvPr id="418" name="Google Shape;418;p12"/>
            <p:cNvSpPr/>
            <p:nvPr/>
          </p:nvSpPr>
          <p:spPr>
            <a:xfrm>
              <a:off x="0" y="0"/>
              <a:ext cx="20970239" cy="1828800"/>
            </a:xfrm>
            <a:custGeom>
              <a:rect b="b" l="l" r="r" t="t"/>
              <a:pathLst>
                <a:path extrusionOk="0" h="1828800" w="20970239">
                  <a:moveTo>
                    <a:pt x="0" y="0"/>
                  </a:moveTo>
                  <a:lnTo>
                    <a:pt x="20970239" y="0"/>
                  </a:lnTo>
                  <a:lnTo>
                    <a:pt x="20970239" y="1828800"/>
                  </a:lnTo>
                  <a:lnTo>
                    <a:pt x="0" y="1828800"/>
                  </a:lnTo>
                  <a:close/>
                </a:path>
              </a:pathLst>
            </a:custGeom>
            <a:blipFill rotWithShape="1">
              <a:blip r:embed="rId3">
                <a:alphaModFix amt="0"/>
              </a:blip>
              <a:stretch>
                <a:fillRect b="-173434" l="0" r="0" t="-1734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2"/>
            <p:cNvSpPr txBox="1"/>
            <p:nvPr/>
          </p:nvSpPr>
          <p:spPr>
            <a:xfrm>
              <a:off x="0" y="-66675"/>
              <a:ext cx="20970240" cy="18954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The longest trip, with medium traffic and fog, gets the longest predicted time (98 min).</a:t>
              </a:r>
              <a:endParaRPr/>
            </a:p>
          </p:txBody>
        </p:sp>
      </p:grpSp>
      <p:sp>
        <p:nvSpPr>
          <p:cNvPr id="420" name="Google Shape;420;p12"/>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grpSp>
        <p:nvGrpSpPr>
          <p:cNvPr id="411" name="Google Shape;411;p12"/>
          <p:cNvGrpSpPr/>
          <p:nvPr/>
        </p:nvGrpSpPr>
        <p:grpSpPr>
          <a:xfrm>
            <a:off x="914400" y="541496"/>
            <a:ext cx="16459200" cy="1287304"/>
            <a:chOff x="0" y="-9525"/>
            <a:chExt cx="21945600" cy="1716405"/>
          </a:xfrm>
        </p:grpSpPr>
        <p:sp>
          <p:nvSpPr>
            <p:cNvPr id="412" name="Google Shape;412;p12"/>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2"/>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1F2430"/>
                  </a:solidFill>
                  <a:latin typeface="Cambria"/>
                  <a:ea typeface="Cambria"/>
                  <a:cs typeface="Cambria"/>
                  <a:sym typeface="Cambria"/>
                </a:rPr>
                <a:t>From Prediction to Promise</a:t>
              </a:r>
              <a:endParaRPr/>
            </a:p>
          </p:txBody>
        </p:sp>
      </p:grpSp>
      <p:sp>
        <p:nvSpPr>
          <p:cNvPr id="414" name="Google Shape;414;p12"/>
          <p:cNvSpPr txBox="1"/>
          <p:nvPr/>
        </p:nvSpPr>
        <p:spPr>
          <a:xfrm>
            <a:off x="914400" y="1771650"/>
            <a:ext cx="16459200" cy="7886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3200">
                <a:solidFill>
                  <a:srgbClr val="6B7280"/>
                </a:solidFill>
                <a:latin typeface="Calibri"/>
                <a:ea typeface="Calibri"/>
                <a:cs typeface="Calibri"/>
                <a:sym typeface="Calibri"/>
              </a:rPr>
              <a:t>Promise = prediction + buffer, so 9 in 10 orders arrive within the promise</a:t>
            </a:r>
            <a:endParaRPr/>
          </a:p>
        </p:txBody>
      </p:sp>
      <p:graphicFrame>
        <p:nvGraphicFramePr>
          <p:cNvPr id="415" name="Google Shape;415;p12"/>
          <p:cNvGraphicFramePr/>
          <p:nvPr/>
        </p:nvGraphicFramePr>
        <p:xfrm>
          <a:off x="914400" y="3108960"/>
          <a:ext cx="16459200" cy="3657600"/>
        </p:xfrm>
        <a:graphic>
          <a:graphicData uri="http://schemas.openxmlformats.org/drawingml/2006/table">
            <a:tbl>
              <a:tblPr>
                <a:noFill/>
                <a:tableStyleId>{65851EFF-ECB7-4A0C-A628-E1CD1D6089D0}</a:tableStyleId>
              </a:tblPr>
              <a:tblGrid>
                <a:gridCol w="3840480"/>
                <a:gridCol w="2194560"/>
                <a:gridCol w="2103120"/>
                <a:gridCol w="2286000"/>
                <a:gridCol w="2468880"/>
                <a:gridCol w="3566160"/>
              </a:tblGrid>
              <a:tr h="914400">
                <a:tc>
                  <a:txBody>
                    <a:bodyPr/>
                    <a:lstStyle/>
                    <a:p>
                      <a:pPr indent="0" lvl="0" marL="0" marR="0" rtl="0" algn="ctr">
                        <a:lnSpc>
                          <a:spcPct val="119958"/>
                        </a:lnSpc>
                        <a:spcBef>
                          <a:spcPts val="0"/>
                        </a:spcBef>
                        <a:spcAft>
                          <a:spcPts val="0"/>
                        </a:spcAft>
                        <a:buNone/>
                      </a:pPr>
                      <a:r>
                        <a:rPr b="1" lang="en-US" sz="2200" u="none" cap="none" strike="noStrike">
                          <a:solidFill>
                            <a:srgbClr val="FFFFFF"/>
                          </a:solidFill>
                          <a:latin typeface="Calibri"/>
                          <a:ea typeface="Calibri"/>
                          <a:cs typeface="Calibri"/>
                          <a:sym typeface="Calibri"/>
                        </a:rPr>
                        <a:t>Order</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200" u="none" cap="none" strike="noStrike">
                          <a:solidFill>
                            <a:srgbClr val="FFFFFF"/>
                          </a:solidFill>
                          <a:latin typeface="Calibri"/>
                          <a:ea typeface="Calibri"/>
                          <a:cs typeface="Calibri"/>
                          <a:sym typeface="Calibri"/>
                        </a:rPr>
                        <a:t>Predicted</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200" u="none" cap="none" strike="noStrike">
                          <a:solidFill>
                            <a:srgbClr val="FFFFFF"/>
                          </a:solidFill>
                          <a:latin typeface="Calibri"/>
                          <a:ea typeface="Calibri"/>
                          <a:cs typeface="Calibri"/>
                          <a:sym typeface="Calibri"/>
                        </a:rPr>
                        <a:t>Group</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200" u="none" cap="none" strike="noStrike">
                          <a:solidFill>
                            <a:srgbClr val="FFFFFF"/>
                          </a:solidFill>
                          <a:latin typeface="Calibri"/>
                          <a:ea typeface="Calibri"/>
                          <a:cs typeface="Calibri"/>
                          <a:sym typeface="Calibri"/>
                        </a:rPr>
                        <a:t>Buffer (min)</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200" u="none" cap="none" strike="noStrike">
                          <a:solidFill>
                            <a:srgbClr val="FFFFFF"/>
                          </a:solidFill>
                          <a:latin typeface="Calibri"/>
                          <a:ea typeface="Calibri"/>
                          <a:cs typeface="Calibri"/>
                          <a:sym typeface="Calibri"/>
                        </a:rPr>
                        <a:t>Promise (min)</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c>
                  <a:txBody>
                    <a:bodyPr/>
                    <a:lstStyle/>
                    <a:p>
                      <a:pPr indent="0" lvl="0" marL="0" marR="0" rtl="0" algn="ctr">
                        <a:lnSpc>
                          <a:spcPct val="119958"/>
                        </a:lnSpc>
                        <a:spcBef>
                          <a:spcPts val="0"/>
                        </a:spcBef>
                        <a:spcAft>
                          <a:spcPts val="0"/>
                        </a:spcAft>
                        <a:buNone/>
                      </a:pPr>
                      <a:r>
                        <a:rPr b="1" lang="en-US" sz="2200" u="none" cap="none" strike="noStrike">
                          <a:solidFill>
                            <a:srgbClr val="FFFFFF"/>
                          </a:solidFill>
                          <a:latin typeface="Calibri"/>
                          <a:ea typeface="Calibri"/>
                          <a:cs typeface="Calibri"/>
                          <a:sym typeface="Calibri"/>
                        </a:rPr>
                        <a:t>Formula range (min)</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F2430"/>
                    </a:solidFill>
                  </a:tcPr>
                </a:tc>
              </a:tr>
              <a:tr h="914400">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5 km, Clear, Low</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28.9</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Normal</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+8.7</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37.6</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25C05"/>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10.7 – 47.2</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914400">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12.5 km, Rainy, High</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78.2</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Risky</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+14.5</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92.7</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25C05"/>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59.9 – 96.5</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r h="914400">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20 km, Foggy, Medium</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98.0</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Normal</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+8.7</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c>
                  <a:txBody>
                    <a:bodyPr/>
                    <a:lstStyle/>
                    <a:p>
                      <a:pPr indent="0" lvl="0" marL="0" marR="0" rtl="0" algn="ctr">
                        <a:lnSpc>
                          <a:spcPct val="120000"/>
                        </a:lnSpc>
                        <a:spcBef>
                          <a:spcPts val="0"/>
                        </a:spcBef>
                        <a:spcAft>
                          <a:spcPts val="0"/>
                        </a:spcAft>
                        <a:buNone/>
                      </a:pPr>
                      <a:r>
                        <a:rPr b="1" lang="en-US" sz="2600" u="none" cap="none" strike="noStrike">
                          <a:solidFill>
                            <a:srgbClr val="FFFFFF"/>
                          </a:solidFill>
                          <a:latin typeface="Calibri"/>
                          <a:ea typeface="Calibri"/>
                          <a:cs typeface="Calibri"/>
                          <a:sym typeface="Calibri"/>
                        </a:rPr>
                        <a:t>106.7</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25C05"/>
                    </a:solidFill>
                  </a:tcPr>
                </a:tc>
                <a:tc>
                  <a:txBody>
                    <a:bodyPr/>
                    <a:lstStyle/>
                    <a:p>
                      <a:pPr indent="0" lvl="0" marL="0" marR="0" rtl="0" algn="ctr">
                        <a:lnSpc>
                          <a:spcPct val="120000"/>
                        </a:lnSpc>
                        <a:spcBef>
                          <a:spcPts val="0"/>
                        </a:spcBef>
                        <a:spcAft>
                          <a:spcPts val="0"/>
                        </a:spcAft>
                        <a:buNone/>
                      </a:pPr>
                      <a:r>
                        <a:rPr lang="en-US" sz="2600" u="none" cap="none" strike="noStrike">
                          <a:solidFill>
                            <a:srgbClr val="1F2430"/>
                          </a:solidFill>
                          <a:latin typeface="Calibri"/>
                          <a:ea typeface="Calibri"/>
                          <a:cs typeface="Calibri"/>
                          <a:sym typeface="Calibri"/>
                        </a:rPr>
                        <a:t>79.5 – 116.4</a:t>
                      </a:r>
                      <a:endParaRPr sz="1100" u="none" cap="none" strike="noStrike"/>
                    </a:p>
                  </a:txBody>
                  <a:tcPr marT="45725" marB="45725" marR="45725" marL="45725" anchor="ctr">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FFFFF"/>
                    </a:solidFill>
                  </a:tcPr>
                </a:tc>
              </a:tr>
            </a:tbl>
          </a:graphicData>
        </a:graphic>
      </p:graphicFrame>
      <p:sp>
        <p:nvSpPr>
          <p:cNvPr id="416" name="Google Shape;416;p12"/>
          <p:cNvSpPr/>
          <p:nvPr/>
        </p:nvSpPr>
        <p:spPr>
          <a:xfrm>
            <a:off x="914400" y="7863840"/>
            <a:ext cx="16459200" cy="1371600"/>
          </a:xfrm>
          <a:custGeom>
            <a:rect b="b" l="l" r="r" t="t"/>
            <a:pathLst>
              <a:path extrusionOk="0" h="1828800" w="21945600">
                <a:moveTo>
                  <a:pt x="0" y="243840"/>
                </a:moveTo>
                <a:cubicBezTo>
                  <a:pt x="0" y="109220"/>
                  <a:pt x="109220" y="0"/>
                  <a:pt x="243840" y="0"/>
                </a:cubicBezTo>
                <a:lnTo>
                  <a:pt x="21701761" y="0"/>
                </a:lnTo>
                <a:cubicBezTo>
                  <a:pt x="21836380" y="0"/>
                  <a:pt x="21945600" y="109220"/>
                  <a:pt x="21945600" y="243840"/>
                </a:cubicBezTo>
                <a:lnTo>
                  <a:pt x="21945600" y="1584960"/>
                </a:lnTo>
                <a:cubicBezTo>
                  <a:pt x="21945600" y="1719580"/>
                  <a:pt x="21836380" y="1828800"/>
                  <a:pt x="21701761" y="1828800"/>
                </a:cubicBezTo>
                <a:lnTo>
                  <a:pt x="243840" y="1828800"/>
                </a:lnTo>
                <a:cubicBezTo>
                  <a:pt x="109220" y="1828800"/>
                  <a:pt x="0" y="1719580"/>
                  <a:pt x="0" y="1584960"/>
                </a:cubicBezTo>
                <a:close/>
              </a:path>
            </a:pathLst>
          </a:custGeom>
          <a:solidFill>
            <a:srgbClr val="F3F4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7" name="Google Shape;417;p12"/>
          <p:cNvGrpSpPr/>
          <p:nvPr/>
        </p:nvGrpSpPr>
        <p:grpSpPr>
          <a:xfrm>
            <a:off x="1280160" y="7813834"/>
            <a:ext cx="15727680" cy="1421606"/>
            <a:chOff x="0" y="-66675"/>
            <a:chExt cx="20970240" cy="1895475"/>
          </a:xfrm>
        </p:grpSpPr>
        <p:sp>
          <p:nvSpPr>
            <p:cNvPr id="418" name="Google Shape;418;p12"/>
            <p:cNvSpPr/>
            <p:nvPr/>
          </p:nvSpPr>
          <p:spPr>
            <a:xfrm>
              <a:off x="0" y="0"/>
              <a:ext cx="20970239" cy="1828800"/>
            </a:xfrm>
            <a:custGeom>
              <a:rect b="b" l="l" r="r" t="t"/>
              <a:pathLst>
                <a:path extrusionOk="0" h="1828800" w="20970239">
                  <a:moveTo>
                    <a:pt x="0" y="0"/>
                  </a:moveTo>
                  <a:lnTo>
                    <a:pt x="20970239" y="0"/>
                  </a:lnTo>
                  <a:lnTo>
                    <a:pt x="20970239" y="1828800"/>
                  </a:lnTo>
                  <a:lnTo>
                    <a:pt x="0" y="1828800"/>
                  </a:lnTo>
                  <a:close/>
                </a:path>
              </a:pathLst>
            </a:custGeom>
            <a:blipFill rotWithShape="1">
              <a:blip r:embed="rId3">
                <a:alphaModFix amt="0"/>
              </a:blip>
              <a:stretch>
                <a:fillRect b="-173434" l="0" r="0" t="-1734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2"/>
            <p:cNvSpPr txBox="1"/>
            <p:nvPr/>
          </p:nvSpPr>
          <p:spPr>
            <a:xfrm>
              <a:off x="0" y="-66675"/>
              <a:ext cx="20970240" cy="189547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lang="en-US" sz="2799">
                  <a:solidFill>
                    <a:srgbClr val="1F2430"/>
                  </a:solidFill>
                  <a:latin typeface="Calibri"/>
                  <a:ea typeface="Calibri"/>
                  <a:cs typeface="Calibri"/>
                  <a:sym typeface="Calibri"/>
                </a:rPr>
                <a:t>Promise = prediction + buffer. Buffer = 90th percentile of real late errors: 8.7 min normally, 14.5 min when heavy traffic and bad weather come together.</a:t>
              </a:r>
              <a:endParaRPr/>
            </a:p>
          </p:txBody>
        </p:sp>
      </p:grpSp>
      <p:sp>
        <p:nvSpPr>
          <p:cNvPr id="420" name="Google Shape;420;p12"/>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6B7280"/>
                </a:solidFill>
                <a:latin typeface="Calibri"/>
                <a:ea typeface="Calibri"/>
                <a:cs typeface="Calibri"/>
                <a:sym typeface="Calibri"/>
              </a:rPr>
              <a:t>14</a:t>
            </a:r>
            <a:endParaRPr/>
          </a:p>
        </p:txBody>
      </p:sp>
      <p:sp>
        <p:nvSpPr>
          <p:cNvPr id="421" name="Formula note"/>
          <p:cNvSpPr txBox="1"/>
          <p:nvPr/>
        </p:nvSpPr>
        <p:spPr>
          <a:xfrm>
            <a:off x="914400" y="6903720"/>
            <a:ext cx="16459200" cy="8686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2000">
                <a:solidFill>
                  <a:srgbClr val="6B7280"/>
                </a:solidFill>
                <a:latin typeface="Calibri"/>
                <a:ea typeface="Calibri"/>
                <a:cs typeface="Calibri"/>
                <a:sym typeface="Calibri"/>
              </a:rPr>
              <a:t>Formula range = 90% prediction interval from the linear model (about ±18 min). It assumes equal error for every order, so it is more cautious. A buffer of only the MAE (6.05 min) would leave about 1 in 6 orders late (82.6% on time).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3"/>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26" name="Google Shape;426;p13"/>
          <p:cNvGrpSpPr/>
          <p:nvPr/>
        </p:nvGrpSpPr>
        <p:grpSpPr>
          <a:xfrm>
            <a:off x="914400" y="541496"/>
            <a:ext cx="16459200" cy="1287304"/>
            <a:chOff x="0" y="-9525"/>
            <a:chExt cx="21945600" cy="1716405"/>
          </a:xfrm>
        </p:grpSpPr>
        <p:sp>
          <p:nvSpPr>
            <p:cNvPr id="427" name="Google Shape;427;p13"/>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6" l="0" r="0" t="-2005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3"/>
            <p:cNvSpPr txBox="1"/>
            <p:nvPr/>
          </p:nvSpPr>
          <p:spPr>
            <a:xfrm>
              <a:off x="0" y="-9525"/>
              <a:ext cx="21945600" cy="1716405"/>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FFFFFF"/>
                  </a:solidFill>
                  <a:latin typeface="Cambria"/>
                  <a:ea typeface="Cambria"/>
                  <a:cs typeface="Cambria"/>
                  <a:sym typeface="Cambria"/>
                </a:rPr>
                <a:t>Insights &amp; Recommendations</a:t>
              </a:r>
              <a:endParaRPr/>
            </a:p>
          </p:txBody>
        </p:sp>
      </p:grpSp>
      <p:grpSp>
        <p:nvGrpSpPr>
          <p:cNvPr id="429" name="Google Shape;429;p13"/>
          <p:cNvGrpSpPr/>
          <p:nvPr/>
        </p:nvGrpSpPr>
        <p:grpSpPr>
          <a:xfrm>
            <a:off x="914400" y="2053114"/>
            <a:ext cx="7955280" cy="781526"/>
            <a:chOff x="0" y="-66675"/>
            <a:chExt cx="10607040" cy="1042035"/>
          </a:xfrm>
        </p:grpSpPr>
        <p:sp>
          <p:nvSpPr>
            <p:cNvPr id="430" name="Google Shape;430;p13"/>
            <p:cNvSpPr/>
            <p:nvPr/>
          </p:nvSpPr>
          <p:spPr>
            <a:xfrm>
              <a:off x="0" y="0"/>
              <a:ext cx="10607040" cy="975360"/>
            </a:xfrm>
            <a:custGeom>
              <a:rect b="b" l="l" r="r" t="t"/>
              <a:pathLst>
                <a:path extrusionOk="0" h="975360" w="10607040">
                  <a:moveTo>
                    <a:pt x="0" y="0"/>
                  </a:moveTo>
                  <a:lnTo>
                    <a:pt x="10607040" y="0"/>
                  </a:lnTo>
                  <a:lnTo>
                    <a:pt x="10607040" y="975360"/>
                  </a:lnTo>
                  <a:lnTo>
                    <a:pt x="0" y="975360"/>
                  </a:lnTo>
                  <a:close/>
                </a:path>
              </a:pathLst>
            </a:custGeom>
            <a:blipFill rotWithShape="1">
              <a:blip r:embed="rId3">
                <a:alphaModFix amt="0"/>
              </a:blip>
              <a:stretch>
                <a:fillRect b="-161900" l="0" r="0" t="-1619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3"/>
            <p:cNvSpPr txBox="1"/>
            <p:nvPr/>
          </p:nvSpPr>
          <p:spPr>
            <a:xfrm>
              <a:off x="0" y="-66675"/>
              <a:ext cx="10607040" cy="1042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600">
                  <a:solidFill>
                    <a:srgbClr val="F4A261"/>
                  </a:solidFill>
                  <a:latin typeface="Calibri"/>
                  <a:ea typeface="Calibri"/>
                  <a:cs typeface="Calibri"/>
                  <a:sym typeface="Calibri"/>
                </a:rPr>
                <a:t>Insights</a:t>
              </a:r>
              <a:endParaRPr/>
            </a:p>
          </p:txBody>
        </p:sp>
      </p:grpSp>
      <p:sp>
        <p:nvSpPr>
          <p:cNvPr id="432" name="Google Shape;432;p13"/>
          <p:cNvSpPr/>
          <p:nvPr/>
        </p:nvSpPr>
        <p:spPr>
          <a:xfrm>
            <a:off x="914400" y="3108960"/>
            <a:ext cx="7955280"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3"/>
          <p:cNvSpPr/>
          <p:nvPr/>
        </p:nvSpPr>
        <p:spPr>
          <a:xfrm>
            <a:off x="1188720" y="3547872"/>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sights 1 icon" id="434" name="Google Shape;434;p13"/>
          <p:cNvSpPr/>
          <p:nvPr/>
        </p:nvSpPr>
        <p:spPr>
          <a:xfrm>
            <a:off x="1417320" y="3776472"/>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5" name="Google Shape;435;p13"/>
          <p:cNvGrpSpPr/>
          <p:nvPr/>
        </p:nvGrpSpPr>
        <p:grpSpPr>
          <a:xfrm>
            <a:off x="2377440" y="3058954"/>
            <a:ext cx="6217920" cy="1842230"/>
            <a:chOff x="0" y="-66675"/>
            <a:chExt cx="8290560" cy="2456307"/>
          </a:xfrm>
        </p:grpSpPr>
        <p:sp>
          <p:nvSpPr>
            <p:cNvPr id="436" name="Google Shape;436;p1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3"/>
            <p:cNvSpPr txBox="1"/>
            <p:nvPr/>
          </p:nvSpPr>
          <p:spPr>
            <a:xfrm>
              <a:off x="0" y="-66675"/>
              <a:ext cx="8290560" cy="24563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000">
                  <a:solidFill>
                    <a:srgbClr val="FFFFFF"/>
                  </a:solidFill>
                  <a:latin typeface="Calibri"/>
                  <a:ea typeface="Calibri"/>
                  <a:cs typeface="Calibri"/>
                  <a:sym typeface="Calibri"/>
                </a:rPr>
                <a:t>Distance dominates</a:t>
              </a:r>
              <a:endParaRPr/>
            </a:p>
            <a:p>
              <a:pPr indent="0" lvl="0" marL="0" marR="0" rtl="0" algn="l">
                <a:lnSpc>
                  <a:spcPct val="120007"/>
                </a:lnSpc>
                <a:spcBef>
                  <a:spcPts val="0"/>
                </a:spcBef>
                <a:spcAft>
                  <a:spcPts val="0"/>
                </a:spcAft>
                <a:buNone/>
              </a:pPr>
              <a:r>
                <a:rPr lang="en-US" sz="2799">
                  <a:solidFill>
                    <a:srgbClr val="FFFFFF"/>
                  </a:solidFill>
                  <a:latin typeface="Calibri"/>
                  <a:ea typeface="Calibri"/>
                  <a:cs typeface="Calibri"/>
                  <a:sym typeface="Calibri"/>
                </a:rPr>
                <a:t>Longer trips take longer: r = 0.78, and about 3 extra min per km in the model.</a:t>
              </a:r>
              <a:endParaRPr/>
            </a:p>
          </p:txBody>
        </p:sp>
      </p:grpSp>
      <p:sp>
        <p:nvSpPr>
          <p:cNvPr id="438" name="Google Shape;438;p13"/>
          <p:cNvSpPr/>
          <p:nvPr/>
        </p:nvSpPr>
        <p:spPr>
          <a:xfrm>
            <a:off x="914400" y="5157216"/>
            <a:ext cx="7955280"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3"/>
          <p:cNvSpPr/>
          <p:nvPr/>
        </p:nvSpPr>
        <p:spPr>
          <a:xfrm>
            <a:off x="1188720" y="5596128"/>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sights 2 icon" id="440" name="Google Shape;440;p13"/>
          <p:cNvSpPr/>
          <p:nvPr/>
        </p:nvSpPr>
        <p:spPr>
          <a:xfrm>
            <a:off x="1417320" y="5824728"/>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1" name="Google Shape;441;p13"/>
          <p:cNvGrpSpPr/>
          <p:nvPr/>
        </p:nvGrpSpPr>
        <p:grpSpPr>
          <a:xfrm>
            <a:off x="2377440" y="5107210"/>
            <a:ext cx="6217920" cy="1842230"/>
            <a:chOff x="0" y="-66675"/>
            <a:chExt cx="8290560" cy="2456307"/>
          </a:xfrm>
        </p:grpSpPr>
        <p:sp>
          <p:nvSpPr>
            <p:cNvPr id="442" name="Google Shape;442;p1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3"/>
            <p:cNvSpPr txBox="1"/>
            <p:nvPr/>
          </p:nvSpPr>
          <p:spPr>
            <a:xfrm>
              <a:off x="0" y="-66675"/>
              <a:ext cx="8290560" cy="24563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000">
                  <a:solidFill>
                    <a:srgbClr val="FFFFFF"/>
                  </a:solidFill>
                  <a:latin typeface="Calibri"/>
                  <a:ea typeface="Calibri"/>
                  <a:cs typeface="Calibri"/>
                  <a:sym typeface="Calibri"/>
                </a:rPr>
                <a:t>A simple model wins</a:t>
              </a:r>
              <a:endParaRPr/>
            </a:p>
            <a:p>
              <a:pPr indent="0" lvl="0" marL="0" marR="0" rtl="0" algn="l">
                <a:lnSpc>
                  <a:spcPct val="120007"/>
                </a:lnSpc>
                <a:spcBef>
                  <a:spcPts val="0"/>
                </a:spcBef>
                <a:spcAft>
                  <a:spcPts val="0"/>
                </a:spcAft>
                <a:buNone/>
              </a:pPr>
              <a:r>
                <a:rPr lang="en-US" sz="2799">
                  <a:solidFill>
                    <a:srgbClr val="FFFFFF"/>
                  </a:solidFill>
                  <a:latin typeface="Calibri"/>
                  <a:ea typeface="Calibri"/>
                  <a:cs typeface="Calibri"/>
                  <a:sym typeface="Calibri"/>
                </a:rPr>
                <a:t>Linear Regression: MAE 6.05 min (6.68 in 5-fold CV), vs a 17.5 min baseline.</a:t>
              </a:r>
              <a:endParaRPr/>
            </a:p>
          </p:txBody>
        </p:sp>
      </p:grpSp>
      <p:sp>
        <p:nvSpPr>
          <p:cNvPr id="444" name="Google Shape;444;p13"/>
          <p:cNvSpPr/>
          <p:nvPr/>
        </p:nvSpPr>
        <p:spPr>
          <a:xfrm>
            <a:off x="914400" y="7205472"/>
            <a:ext cx="7955280"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3"/>
          <p:cNvSpPr/>
          <p:nvPr/>
        </p:nvSpPr>
        <p:spPr>
          <a:xfrm>
            <a:off x="1188720" y="7644384"/>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Insights 3 icon" id="446" name="Google Shape;446;p13"/>
          <p:cNvSpPr/>
          <p:nvPr/>
        </p:nvSpPr>
        <p:spPr>
          <a:xfrm>
            <a:off x="1417320" y="7872984"/>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7" name="Google Shape;447;p13"/>
          <p:cNvGrpSpPr/>
          <p:nvPr/>
        </p:nvGrpSpPr>
        <p:grpSpPr>
          <a:xfrm>
            <a:off x="2377440" y="7155466"/>
            <a:ext cx="6217920" cy="1842230"/>
            <a:chOff x="0" y="-66675"/>
            <a:chExt cx="8290560" cy="2456307"/>
          </a:xfrm>
        </p:grpSpPr>
        <p:sp>
          <p:nvSpPr>
            <p:cNvPr id="448" name="Google Shape;448;p1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3"/>
            <p:cNvSpPr txBox="1"/>
            <p:nvPr/>
          </p:nvSpPr>
          <p:spPr>
            <a:xfrm>
              <a:off x="0" y="-66675"/>
              <a:ext cx="8290560" cy="24563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000">
                  <a:solidFill>
                    <a:srgbClr val="FFFFFF"/>
                  </a:solidFill>
                  <a:latin typeface="Calibri"/>
                  <a:ea typeface="Calibri"/>
                  <a:cs typeface="Calibri"/>
                  <a:sym typeface="Calibri"/>
                </a:rPr>
                <a:t>Conditions add delay</a:t>
              </a:r>
              <a:endParaRPr/>
            </a:p>
            <a:p>
              <a:pPr indent="0" lvl="0" marL="0" marR="0" rtl="0" algn="l">
                <a:lnSpc>
                  <a:spcPct val="120007"/>
                </a:lnSpc>
                <a:spcBef>
                  <a:spcPts val="0"/>
                </a:spcBef>
                <a:spcAft>
                  <a:spcPts val="0"/>
                </a:spcAft>
                <a:buNone/>
              </a:pPr>
              <a:r>
                <a:rPr lang="en-US" sz="2799">
                  <a:solidFill>
                    <a:srgbClr val="FFFFFF"/>
                  </a:solidFill>
                  <a:latin typeface="Calibri"/>
                  <a:ea typeface="Calibri"/>
                  <a:cs typeface="Calibri"/>
                  <a:sym typeface="Calibri"/>
                </a:rPr>
                <a:t>High traffic (65 vs 51 min) and snowy weather (66 vs 52 min) raise medians.</a:t>
              </a:r>
              <a:endParaRPr/>
            </a:p>
          </p:txBody>
        </p:sp>
      </p:grpSp>
      <p:grpSp>
        <p:nvGrpSpPr>
          <p:cNvPr id="450" name="Google Shape;450;p13"/>
          <p:cNvGrpSpPr/>
          <p:nvPr/>
        </p:nvGrpSpPr>
        <p:grpSpPr>
          <a:xfrm>
            <a:off x="9418320" y="2053114"/>
            <a:ext cx="7955280" cy="781526"/>
            <a:chOff x="0" y="-66675"/>
            <a:chExt cx="10607040" cy="1042035"/>
          </a:xfrm>
        </p:grpSpPr>
        <p:sp>
          <p:nvSpPr>
            <p:cNvPr id="451" name="Google Shape;451;p13"/>
            <p:cNvSpPr/>
            <p:nvPr/>
          </p:nvSpPr>
          <p:spPr>
            <a:xfrm>
              <a:off x="0" y="0"/>
              <a:ext cx="10607040" cy="975360"/>
            </a:xfrm>
            <a:custGeom>
              <a:rect b="b" l="l" r="r" t="t"/>
              <a:pathLst>
                <a:path extrusionOk="0" h="975360" w="10607040">
                  <a:moveTo>
                    <a:pt x="0" y="0"/>
                  </a:moveTo>
                  <a:lnTo>
                    <a:pt x="10607040" y="0"/>
                  </a:lnTo>
                  <a:lnTo>
                    <a:pt x="10607040" y="975360"/>
                  </a:lnTo>
                  <a:lnTo>
                    <a:pt x="0" y="975360"/>
                  </a:lnTo>
                  <a:close/>
                </a:path>
              </a:pathLst>
            </a:custGeom>
            <a:blipFill rotWithShape="1">
              <a:blip r:embed="rId3">
                <a:alphaModFix amt="0"/>
              </a:blip>
              <a:stretch>
                <a:fillRect b="-161900" l="0" r="0" t="-1619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3"/>
            <p:cNvSpPr txBox="1"/>
            <p:nvPr/>
          </p:nvSpPr>
          <p:spPr>
            <a:xfrm>
              <a:off x="0" y="-66675"/>
              <a:ext cx="10607040" cy="1042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600">
                  <a:solidFill>
                    <a:srgbClr val="F4A261"/>
                  </a:solidFill>
                  <a:latin typeface="Calibri"/>
                  <a:ea typeface="Calibri"/>
                  <a:cs typeface="Calibri"/>
                  <a:sym typeface="Calibri"/>
                </a:rPr>
                <a:t>Recommendations</a:t>
              </a:r>
              <a:endParaRPr/>
            </a:p>
          </p:txBody>
        </p:sp>
      </p:grpSp>
      <p:sp>
        <p:nvSpPr>
          <p:cNvPr id="453" name="Google Shape;453;p13"/>
          <p:cNvSpPr/>
          <p:nvPr/>
        </p:nvSpPr>
        <p:spPr>
          <a:xfrm>
            <a:off x="9418320" y="3108960"/>
            <a:ext cx="7955280"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3"/>
          <p:cNvSpPr/>
          <p:nvPr/>
        </p:nvSpPr>
        <p:spPr>
          <a:xfrm>
            <a:off x="9692640" y="3547872"/>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ecommendations 1 icon" id="455" name="Google Shape;455;p13"/>
          <p:cNvSpPr/>
          <p:nvPr/>
        </p:nvSpPr>
        <p:spPr>
          <a:xfrm>
            <a:off x="9921240" y="3776472"/>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6" name="Google Shape;456;p13"/>
          <p:cNvGrpSpPr/>
          <p:nvPr/>
        </p:nvGrpSpPr>
        <p:grpSpPr>
          <a:xfrm>
            <a:off x="10881360" y="3058954"/>
            <a:ext cx="6217920" cy="1842230"/>
            <a:chOff x="0" y="-66675"/>
            <a:chExt cx="8290560" cy="2456307"/>
          </a:xfrm>
        </p:grpSpPr>
        <p:sp>
          <p:nvSpPr>
            <p:cNvPr id="457" name="Google Shape;457;p1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3"/>
            <p:cNvSpPr txBox="1"/>
            <p:nvPr/>
          </p:nvSpPr>
          <p:spPr>
            <a:xfrm>
              <a:off x="0" y="-66675"/>
              <a:ext cx="8290560" cy="24563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000">
                  <a:solidFill>
                    <a:srgbClr val="FFFFFF"/>
                  </a:solidFill>
                  <a:latin typeface="Calibri"/>
                  <a:ea typeface="Calibri"/>
                  <a:cs typeface="Calibri"/>
                  <a:sym typeface="Calibri"/>
                </a:rPr>
                <a:t>Replace average-based ETAs</a:t>
              </a:r>
              <a:endParaRPr/>
            </a:p>
            <a:p>
              <a:pPr indent="0" lvl="0" marL="0" marR="0" rtl="0" algn="l">
                <a:lnSpc>
                  <a:spcPct val="120007"/>
                </a:lnSpc>
                <a:spcBef>
                  <a:spcPts val="0"/>
                </a:spcBef>
                <a:spcAft>
                  <a:spcPts val="0"/>
                </a:spcAft>
                <a:buNone/>
              </a:pPr>
              <a:r>
                <a:rPr lang="en-US" sz="2799">
                  <a:solidFill>
                    <a:srgbClr val="FFFFFF"/>
                  </a:solidFill>
                  <a:latin typeface="Calibri"/>
                  <a:ea typeface="Calibri"/>
                  <a:cs typeface="Calibri"/>
                  <a:sym typeface="Calibri"/>
                </a:rPr>
                <a:t>Use the model to cut typical estimate error from 17.5 to about 6 to 7 min.</a:t>
              </a:r>
              <a:endParaRPr/>
            </a:p>
          </p:txBody>
        </p:sp>
      </p:grpSp>
      <p:sp>
        <p:nvSpPr>
          <p:cNvPr id="459" name="Google Shape;459;p13"/>
          <p:cNvSpPr/>
          <p:nvPr/>
        </p:nvSpPr>
        <p:spPr>
          <a:xfrm>
            <a:off x="9418320" y="5157216"/>
            <a:ext cx="7955280"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3"/>
          <p:cNvSpPr/>
          <p:nvPr/>
        </p:nvSpPr>
        <p:spPr>
          <a:xfrm>
            <a:off x="9692640" y="5596128"/>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ecommendations 2 icon" id="461" name="Google Shape;461;p13"/>
          <p:cNvSpPr/>
          <p:nvPr/>
        </p:nvSpPr>
        <p:spPr>
          <a:xfrm>
            <a:off x="9921240" y="5824728"/>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2" name="Google Shape;462;p13"/>
          <p:cNvGrpSpPr/>
          <p:nvPr/>
        </p:nvGrpSpPr>
        <p:grpSpPr>
          <a:xfrm>
            <a:off x="10881360" y="5107210"/>
            <a:ext cx="6217920" cy="1842230"/>
            <a:chOff x="0" y="-66675"/>
            <a:chExt cx="8290560" cy="2456307"/>
          </a:xfrm>
        </p:grpSpPr>
        <p:sp>
          <p:nvSpPr>
            <p:cNvPr id="463" name="Google Shape;463;p1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13"/>
            <p:cNvSpPr txBox="1"/>
            <p:nvPr/>
          </p:nvSpPr>
          <p:spPr>
            <a:xfrm>
              <a:off x="0" y="-66675"/>
              <a:ext cx="8290560" cy="24563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000">
                  <a:solidFill>
                    <a:srgbClr val="FFFFFF"/>
                  </a:solidFill>
                  <a:latin typeface="Calibri"/>
                  <a:ea typeface="Calibri"/>
                  <a:cs typeface="Calibri"/>
                  <a:sym typeface="Calibri"/>
                </a:rPr>
                <a:t>Plan for risky orders</a:t>
              </a:r>
              <a:endParaRPr/>
            </a:p>
            <a:p>
              <a:pPr indent="0" lvl="0" marL="0" marR="0" rtl="0" algn="l">
                <a:lnSpc>
                  <a:spcPct val="120007"/>
                </a:lnSpc>
                <a:spcBef>
                  <a:spcPts val="0"/>
                </a:spcBef>
                <a:spcAft>
                  <a:spcPts val="0"/>
                </a:spcAft>
                <a:buNone/>
              </a:pPr>
              <a:r>
                <a:rPr lang="en-US" sz="2799">
                  <a:solidFill>
                    <a:srgbClr val="FFFFFF"/>
                  </a:solidFill>
                  <a:latin typeface="Calibri"/>
                  <a:ea typeface="Calibri"/>
                  <a:cs typeface="Calibri"/>
                  <a:sym typeface="Calibri"/>
                </a:rPr>
                <a:t>Add a 9 min buffer, or 15 min when heavy traffic meets bad weather.</a:t>
              </a:r>
              <a:endParaRPr/>
            </a:p>
          </p:txBody>
        </p:sp>
      </p:grpSp>
      <p:sp>
        <p:nvSpPr>
          <p:cNvPr id="465" name="Google Shape;465;p13"/>
          <p:cNvSpPr/>
          <p:nvPr/>
        </p:nvSpPr>
        <p:spPr>
          <a:xfrm>
            <a:off x="9418320" y="7205472"/>
            <a:ext cx="7955280"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3"/>
          <p:cNvSpPr/>
          <p:nvPr/>
        </p:nvSpPr>
        <p:spPr>
          <a:xfrm>
            <a:off x="9692640" y="7644384"/>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ecommendations 3 icon" id="467" name="Google Shape;467;p13"/>
          <p:cNvSpPr/>
          <p:nvPr/>
        </p:nvSpPr>
        <p:spPr>
          <a:xfrm>
            <a:off x="9921240" y="7872984"/>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68" name="Google Shape;468;p13"/>
          <p:cNvGrpSpPr/>
          <p:nvPr/>
        </p:nvGrpSpPr>
        <p:grpSpPr>
          <a:xfrm>
            <a:off x="10881360" y="7155466"/>
            <a:ext cx="6217920" cy="1842230"/>
            <a:chOff x="0" y="-66675"/>
            <a:chExt cx="8290560" cy="2456307"/>
          </a:xfrm>
        </p:grpSpPr>
        <p:sp>
          <p:nvSpPr>
            <p:cNvPr id="469" name="Google Shape;469;p1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3"/>
            <p:cNvSpPr txBox="1"/>
            <p:nvPr/>
          </p:nvSpPr>
          <p:spPr>
            <a:xfrm>
              <a:off x="0" y="-66675"/>
              <a:ext cx="8290560" cy="24563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3000">
                  <a:solidFill>
                    <a:srgbClr val="FFFFFF"/>
                  </a:solidFill>
                  <a:latin typeface="Calibri"/>
                  <a:ea typeface="Calibri"/>
                  <a:cs typeface="Calibri"/>
                  <a:sym typeface="Calibri"/>
                </a:rPr>
                <a:t>Keep improving the model</a:t>
              </a:r>
              <a:endParaRPr/>
            </a:p>
            <a:p>
              <a:pPr indent="0" lvl="0" marL="0" marR="0" rtl="0" algn="l">
                <a:lnSpc>
                  <a:spcPct val="120007"/>
                </a:lnSpc>
                <a:spcBef>
                  <a:spcPts val="0"/>
                </a:spcBef>
                <a:spcAft>
                  <a:spcPts val="0"/>
                </a:spcAft>
                <a:buNone/>
              </a:pPr>
              <a:r>
                <a:rPr lang="en-US" sz="2799">
                  <a:solidFill>
                    <a:srgbClr val="FFFFFF"/>
                  </a:solidFill>
                  <a:latin typeface="Calibri"/>
                  <a:ea typeface="Calibri"/>
                  <a:cs typeface="Calibri"/>
                  <a:sym typeface="Calibri"/>
                </a:rPr>
                <a:t>Use more data, tune the models, and test traffic × weather effects.</a:t>
              </a:r>
              <a:endParaRPr/>
            </a:p>
          </p:txBody>
        </p:sp>
      </p:grpSp>
      <p:sp>
        <p:nvSpPr>
          <p:cNvPr id="471" name="Google Shape;471;p13"/>
          <p:cNvSpPr txBox="1"/>
          <p:nvPr/>
        </p:nvSpPr>
        <p:spPr>
          <a:xfrm>
            <a:off x="16550640" y="9517380"/>
            <a:ext cx="731520" cy="4953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F3F4F6"/>
                </a:solidFill>
                <a:latin typeface="Calibri"/>
                <a:ea typeface="Calibri"/>
                <a:cs typeface="Calibri"/>
                <a:sym typeface="Calibri"/>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h44409769444234e7_0_0"/>
          <p:cNvPicPr preferRelativeResize="0"/>
          <p:nvPr/>
        </p:nvPicPr>
        <p:blipFill>
          <a:blip r:embed="rId3">
            <a:alphaModFix/>
          </a:blip>
          <a:stretch>
            <a:fillRect/>
          </a:stretch>
        </p:blipFill>
        <p:spPr>
          <a:xfrm>
            <a:off x="605150" y="271800"/>
            <a:ext cx="16961574" cy="95384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h46e8777ff8f3b337_0_3"/>
          <p:cNvSpPr/>
          <p:nvPr/>
        </p:nvSpPr>
        <p:spPr>
          <a:xfrm>
            <a:off x="-200650" y="-5298160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2" name="Google Shape;482;h46e8777ff8f3b337_0_3"/>
          <p:cNvGrpSpPr/>
          <p:nvPr/>
        </p:nvGrpSpPr>
        <p:grpSpPr>
          <a:xfrm>
            <a:off x="914400" y="541496"/>
            <a:ext cx="16459200" cy="1287304"/>
            <a:chOff x="0" y="-9525"/>
            <a:chExt cx="21945600" cy="1716405"/>
          </a:xfrm>
        </p:grpSpPr>
        <p:sp>
          <p:nvSpPr>
            <p:cNvPr id="483" name="Google Shape;483;h46e8777ff8f3b337_0_3"/>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3">
                <a:alphaModFix amt="0"/>
              </a:blip>
              <a:stretch>
                <a:fillRect b="-200521" l="0" r="0" t="-2005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h46e8777ff8f3b337_0_3"/>
            <p:cNvSpPr txBox="1"/>
            <p:nvPr/>
          </p:nvSpPr>
          <p:spPr>
            <a:xfrm>
              <a:off x="0" y="-9525"/>
              <a:ext cx="21945600" cy="1716300"/>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1" lang="en-US" sz="6399">
                  <a:solidFill>
                    <a:srgbClr val="FFFFFF"/>
                  </a:solidFill>
                  <a:latin typeface="Cambria"/>
                  <a:ea typeface="Cambria"/>
                  <a:cs typeface="Cambria"/>
                  <a:sym typeface="Cambria"/>
                </a:rPr>
                <a:t>Documentation</a:t>
              </a:r>
              <a:endParaRPr/>
            </a:p>
          </p:txBody>
        </p:sp>
      </p:grpSp>
      <p:grpSp>
        <p:nvGrpSpPr>
          <p:cNvPr id="485" name="Google Shape;485;h46e8777ff8f3b337_0_3"/>
          <p:cNvGrpSpPr/>
          <p:nvPr/>
        </p:nvGrpSpPr>
        <p:grpSpPr>
          <a:xfrm>
            <a:off x="914400" y="2053114"/>
            <a:ext cx="7955325" cy="781526"/>
            <a:chOff x="0" y="-66675"/>
            <a:chExt cx="10607100" cy="1042035"/>
          </a:xfrm>
        </p:grpSpPr>
        <p:sp>
          <p:nvSpPr>
            <p:cNvPr id="486" name="Google Shape;486;h46e8777ff8f3b337_0_3"/>
            <p:cNvSpPr/>
            <p:nvPr/>
          </p:nvSpPr>
          <p:spPr>
            <a:xfrm>
              <a:off x="0" y="0"/>
              <a:ext cx="10607040" cy="975360"/>
            </a:xfrm>
            <a:custGeom>
              <a:rect b="b" l="l" r="r" t="t"/>
              <a:pathLst>
                <a:path extrusionOk="0" h="975360" w="10607040">
                  <a:moveTo>
                    <a:pt x="0" y="0"/>
                  </a:moveTo>
                  <a:lnTo>
                    <a:pt x="10607040" y="0"/>
                  </a:lnTo>
                  <a:lnTo>
                    <a:pt x="10607040" y="975360"/>
                  </a:lnTo>
                  <a:lnTo>
                    <a:pt x="0" y="975360"/>
                  </a:lnTo>
                  <a:close/>
                </a:path>
              </a:pathLst>
            </a:custGeom>
            <a:blipFill rotWithShape="1">
              <a:blip r:embed="rId3">
                <a:alphaModFix amt="0"/>
              </a:blip>
              <a:stretch>
                <a:fillRect b="-161900" l="0" r="0" t="-1619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h46e8777ff8f3b337_0_3"/>
            <p:cNvSpPr txBox="1"/>
            <p:nvPr/>
          </p:nvSpPr>
          <p:spPr>
            <a:xfrm>
              <a:off x="0" y="-66675"/>
              <a:ext cx="10607100" cy="1041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t/>
              </a:r>
              <a:endParaRPr/>
            </a:p>
          </p:txBody>
        </p:sp>
      </p:grpSp>
      <p:grpSp>
        <p:nvGrpSpPr>
          <p:cNvPr id="488" name="Google Shape;488;h46e8777ff8f3b337_0_3"/>
          <p:cNvGrpSpPr/>
          <p:nvPr/>
        </p:nvGrpSpPr>
        <p:grpSpPr>
          <a:xfrm>
            <a:off x="9418320" y="2053114"/>
            <a:ext cx="7955325" cy="781526"/>
            <a:chOff x="0" y="-66675"/>
            <a:chExt cx="10607100" cy="1042035"/>
          </a:xfrm>
        </p:grpSpPr>
        <p:sp>
          <p:nvSpPr>
            <p:cNvPr id="489" name="Google Shape;489;h46e8777ff8f3b337_0_3"/>
            <p:cNvSpPr/>
            <p:nvPr/>
          </p:nvSpPr>
          <p:spPr>
            <a:xfrm>
              <a:off x="0" y="0"/>
              <a:ext cx="10607040" cy="975360"/>
            </a:xfrm>
            <a:custGeom>
              <a:rect b="b" l="l" r="r" t="t"/>
              <a:pathLst>
                <a:path extrusionOk="0" h="975360" w="10607040">
                  <a:moveTo>
                    <a:pt x="0" y="0"/>
                  </a:moveTo>
                  <a:lnTo>
                    <a:pt x="10607040" y="0"/>
                  </a:lnTo>
                  <a:lnTo>
                    <a:pt x="10607040" y="975360"/>
                  </a:lnTo>
                  <a:lnTo>
                    <a:pt x="0" y="975360"/>
                  </a:lnTo>
                  <a:close/>
                </a:path>
              </a:pathLst>
            </a:custGeom>
            <a:blipFill rotWithShape="1">
              <a:blip r:embed="rId3">
                <a:alphaModFix amt="0"/>
              </a:blip>
              <a:stretch>
                <a:fillRect b="-161900" l="0" r="0" t="-1619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h46e8777ff8f3b337_0_3"/>
            <p:cNvSpPr txBox="1"/>
            <p:nvPr/>
          </p:nvSpPr>
          <p:spPr>
            <a:xfrm>
              <a:off x="0" y="-66675"/>
              <a:ext cx="10607100" cy="1041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t/>
              </a:r>
              <a:endParaRPr/>
            </a:p>
          </p:txBody>
        </p:sp>
      </p:grpSp>
      <p:sp>
        <p:nvSpPr>
          <p:cNvPr id="491" name="Google Shape;491;h46e8777ff8f3b337_0_3"/>
          <p:cNvSpPr txBox="1"/>
          <p:nvPr/>
        </p:nvSpPr>
        <p:spPr>
          <a:xfrm>
            <a:off x="16550640" y="9517380"/>
            <a:ext cx="731400" cy="307800"/>
          </a:xfrm>
          <a:prstGeom prst="rect">
            <a:avLst/>
          </a:prstGeom>
          <a:noFill/>
          <a:ln>
            <a:noFill/>
          </a:ln>
        </p:spPr>
        <p:txBody>
          <a:bodyPr anchorCtr="0" anchor="t" bIns="0" lIns="0" spcFirstLastPara="1" rIns="0" wrap="square" tIns="0">
            <a:spAutoFit/>
          </a:bodyPr>
          <a:lstStyle/>
          <a:p>
            <a:pPr indent="0" lvl="0" marL="0" marR="0" rtl="0" algn="r">
              <a:lnSpc>
                <a:spcPct val="120000"/>
              </a:lnSpc>
              <a:spcBef>
                <a:spcPts val="0"/>
              </a:spcBef>
              <a:spcAft>
                <a:spcPts val="0"/>
              </a:spcAft>
              <a:buNone/>
            </a:pPr>
            <a:r>
              <a:rPr lang="en-US" sz="2000">
                <a:solidFill>
                  <a:srgbClr val="F3F4F6"/>
                </a:solidFill>
                <a:latin typeface="Calibri"/>
                <a:ea typeface="Calibri"/>
                <a:cs typeface="Calibri"/>
                <a:sym typeface="Calibri"/>
              </a:rPr>
              <a:t>17</a:t>
            </a:r>
            <a:endParaRPr/>
          </a:p>
        </p:txBody>
      </p:sp>
      <p:grpSp>
        <p:nvGrpSpPr>
          <p:cNvPr id="492" name="Google Shape;492;h46e8777ff8f3b337_0_3"/>
          <p:cNvGrpSpPr/>
          <p:nvPr/>
        </p:nvGrpSpPr>
        <p:grpSpPr>
          <a:xfrm>
            <a:off x="1198054" y="-48118775"/>
            <a:ext cx="15008962" cy="22500725"/>
            <a:chOff x="1271029" y="2911225"/>
            <a:chExt cx="15008962" cy="22500725"/>
          </a:xfrm>
        </p:grpSpPr>
        <p:sp>
          <p:nvSpPr>
            <p:cNvPr id="493" name="Google Shape;493;h46e8777ff8f3b337_0_3"/>
            <p:cNvSpPr/>
            <p:nvPr/>
          </p:nvSpPr>
          <p:spPr>
            <a:xfrm>
              <a:off x="1271029" y="2911225"/>
              <a:ext cx="15008962"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h46e8777ff8f3b337_0_3"/>
            <p:cNvSpPr/>
            <p:nvPr/>
          </p:nvSpPr>
          <p:spPr>
            <a:xfrm>
              <a:off x="1722040" y="3319284"/>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ecommendations 3 icon" id="495" name="Google Shape;495;h46e8777ff8f3b337_0_3"/>
            <p:cNvSpPr/>
            <p:nvPr/>
          </p:nvSpPr>
          <p:spPr>
            <a:xfrm>
              <a:off x="1950640" y="3547884"/>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h46e8777ff8f3b337_0_3"/>
            <p:cNvSpPr txBox="1"/>
            <p:nvPr/>
          </p:nvSpPr>
          <p:spPr>
            <a:xfrm>
              <a:off x="2869925" y="23783250"/>
              <a:ext cx="13071300" cy="162870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lang="en-US" sz="3000">
                  <a:solidFill>
                    <a:srgbClr val="FFFFFF"/>
                  </a:solidFill>
                  <a:latin typeface="Calibri"/>
                  <a:ea typeface="Calibri"/>
                  <a:cs typeface="Calibri"/>
                  <a:sym typeface="Calibri"/>
                </a:rPr>
                <a:t>Github Link : </a:t>
              </a:r>
              <a:r>
                <a:rPr b="1" lang="en-US" sz="3000">
                  <a:solidFill>
                    <a:srgbClr val="FFFFFF"/>
                  </a:solidFill>
                  <a:uFill>
                    <a:noFill/>
                  </a:uFill>
                  <a:latin typeface="Calibri"/>
                  <a:ea typeface="Calibri"/>
                  <a:cs typeface="Calibri"/>
                  <a:sym typeface="Calibri"/>
                  <a:hlinkClick r:id="rId5">
                    <a:extLst>
                      <a:ext uri="{A12FA001-AC4F-418D-AE19-62706E023703}">
                        <ahyp:hlinkClr val="tx"/>
                      </a:ext>
                    </a:extLst>
                  </a:hlinkClick>
                </a:rPr>
                <a:t>Food_Delivery_Time_Prediction</a:t>
              </a:r>
              <a:endParaRPr sz="1500">
                <a:solidFill>
                  <a:srgbClr val="1F2328"/>
                </a:solidFill>
                <a:highlight>
                  <a:srgbClr val="FFFFFF"/>
                </a:highlight>
              </a:endParaRPr>
            </a:p>
            <a:p>
              <a:pPr indent="0" lvl="0" marL="0" marR="0" rtl="0" algn="l">
                <a:lnSpc>
                  <a:spcPct val="120007"/>
                </a:lnSpc>
                <a:spcBef>
                  <a:spcPts val="0"/>
                </a:spcBef>
                <a:spcAft>
                  <a:spcPts val="0"/>
                </a:spcAft>
                <a:buNone/>
              </a:pPr>
              <a:r>
                <a:t/>
              </a:r>
              <a:endParaRPr b="1" sz="3000">
                <a:solidFill>
                  <a:srgbClr val="FFFFFF"/>
                </a:solidFill>
                <a:latin typeface="Calibri"/>
                <a:ea typeface="Calibri"/>
                <a:cs typeface="Calibri"/>
                <a:sym typeface="Calibri"/>
              </a:endParaRPr>
            </a:p>
          </p:txBody>
        </p:sp>
      </p:grpSp>
      <p:sp>
        <p:nvSpPr>
          <p:cNvPr id="497" name="Google Shape;497;h46e8777ff8f3b337_0_3"/>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498" name="Google Shape;498;h46e8777ff8f3b337_0_3"/>
          <p:cNvSpPr txBox="1"/>
          <p:nvPr/>
        </p:nvSpPr>
        <p:spPr>
          <a:xfrm>
            <a:off x="713750" y="1684496"/>
            <a:ext cx="16459200" cy="1287300"/>
          </a:xfrm>
          <a:prstGeom prst="rect">
            <a:avLst/>
          </a:prstGeom>
          <a:noFill/>
          <a:ln>
            <a:noFill/>
          </a:ln>
        </p:spPr>
        <p:txBody>
          <a:bodyPr anchorCtr="0" anchor="ctr" bIns="0" lIns="0" spcFirstLastPara="1" rIns="0" wrap="square" tIns="0">
            <a:noAutofit/>
          </a:bodyPr>
          <a:lstStyle/>
          <a:p>
            <a:pPr indent="0" lvl="0" marL="0" marR="0" rtl="0" algn="ctr">
              <a:lnSpc>
                <a:spcPct val="120003"/>
              </a:lnSpc>
              <a:spcBef>
                <a:spcPts val="0"/>
              </a:spcBef>
              <a:spcAft>
                <a:spcPts val="0"/>
              </a:spcAft>
              <a:buNone/>
            </a:pPr>
            <a:r>
              <a:rPr b="1" lang="en-US" sz="6399">
                <a:solidFill>
                  <a:srgbClr val="FFFFFF"/>
                </a:solidFill>
                <a:latin typeface="Cambria"/>
                <a:ea typeface="Cambria"/>
                <a:cs typeface="Cambria"/>
                <a:sym typeface="Cambria"/>
              </a:rPr>
              <a:t>Documentation</a:t>
            </a:r>
            <a:endParaRPr/>
          </a:p>
        </p:txBody>
      </p:sp>
      <p:sp>
        <p:nvSpPr>
          <p:cNvPr id="499" name="Google Shape;499;h46e8777ff8f3b337_0_3"/>
          <p:cNvSpPr/>
          <p:nvPr/>
        </p:nvSpPr>
        <p:spPr>
          <a:xfrm>
            <a:off x="1867229" y="4031825"/>
            <a:ext cx="14346022"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h46e8777ff8f3b337_0_3"/>
          <p:cNvSpPr/>
          <p:nvPr/>
        </p:nvSpPr>
        <p:spPr>
          <a:xfrm>
            <a:off x="2141540" y="4470734"/>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ecommendations 3 icon" id="501" name="Google Shape;501;h46e8777ff8f3b337_0_3"/>
          <p:cNvSpPr/>
          <p:nvPr/>
        </p:nvSpPr>
        <p:spPr>
          <a:xfrm>
            <a:off x="2370140" y="4699334"/>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02" name="Google Shape;502;h46e8777ff8f3b337_0_3"/>
          <p:cNvGrpSpPr/>
          <p:nvPr/>
        </p:nvGrpSpPr>
        <p:grpSpPr>
          <a:xfrm>
            <a:off x="3330240" y="3981825"/>
            <a:ext cx="12483225" cy="1842300"/>
            <a:chOff x="-27" y="-66663"/>
            <a:chExt cx="16644300" cy="2456400"/>
          </a:xfrm>
        </p:grpSpPr>
        <p:sp>
          <p:nvSpPr>
            <p:cNvPr id="503" name="Google Shape;503;h46e8777ff8f3b337_0_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h46e8777ff8f3b337_0_3"/>
            <p:cNvSpPr txBox="1"/>
            <p:nvPr/>
          </p:nvSpPr>
          <p:spPr>
            <a:xfrm>
              <a:off x="-27" y="-66663"/>
              <a:ext cx="16644300" cy="24564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Calibri"/>
                  <a:ea typeface="Calibri"/>
                  <a:cs typeface="Calibri"/>
                  <a:sym typeface="Calibri"/>
                </a:rPr>
                <a:t>Link Github</a:t>
              </a:r>
              <a:endParaRPr/>
            </a:p>
            <a:p>
              <a:pPr indent="0" lvl="0" marL="0" marR="0" rtl="0" algn="ctr">
                <a:lnSpc>
                  <a:spcPct val="120007"/>
                </a:lnSpc>
                <a:spcBef>
                  <a:spcPts val="0"/>
                </a:spcBef>
                <a:spcAft>
                  <a:spcPts val="0"/>
                </a:spcAft>
                <a:buNone/>
              </a:pPr>
              <a:r>
                <a:rPr lang="en-US" sz="2799" u="sng">
                  <a:solidFill>
                    <a:schemeClr val="lt1"/>
                  </a:solidFill>
                  <a:latin typeface="Calibri"/>
                  <a:ea typeface="Calibri"/>
                  <a:cs typeface="Calibri"/>
                  <a:sym typeface="Calibri"/>
                  <a:hlinkClick r:id="rId6">
                    <a:extLst>
                      <a:ext uri="{A12FA001-AC4F-418D-AE19-62706E023703}">
                        <ahyp:hlinkClr val="tx"/>
                      </a:ext>
                    </a:extLst>
                  </a:hlinkClick>
                </a:rPr>
                <a:t>Food Delivery Time Prediction</a:t>
              </a:r>
              <a:endParaRPr>
                <a:solidFill>
                  <a:schemeClr val="lt1"/>
                </a:solidFill>
              </a:endParaRPr>
            </a:p>
          </p:txBody>
        </p:sp>
      </p:grpSp>
      <p:sp>
        <p:nvSpPr>
          <p:cNvPr id="505" name="Google Shape;505;h46e8777ff8f3b337_0_3"/>
          <p:cNvSpPr/>
          <p:nvPr/>
        </p:nvSpPr>
        <p:spPr>
          <a:xfrm>
            <a:off x="1770329" y="6439550"/>
            <a:ext cx="14346022" cy="1792224"/>
          </a:xfrm>
          <a:custGeom>
            <a:rect b="b" l="l" r="r" t="t"/>
            <a:pathLst>
              <a:path extrusionOk="0" h="2389632" w="10607040">
                <a:moveTo>
                  <a:pt x="0" y="243840"/>
                </a:moveTo>
                <a:cubicBezTo>
                  <a:pt x="0" y="109220"/>
                  <a:pt x="109220" y="0"/>
                  <a:pt x="243840" y="0"/>
                </a:cubicBezTo>
                <a:lnTo>
                  <a:pt x="10363200" y="0"/>
                </a:lnTo>
                <a:cubicBezTo>
                  <a:pt x="10497820" y="0"/>
                  <a:pt x="10607040" y="109220"/>
                  <a:pt x="10607040" y="243840"/>
                </a:cubicBezTo>
                <a:lnTo>
                  <a:pt x="10607040" y="2145792"/>
                </a:lnTo>
                <a:cubicBezTo>
                  <a:pt x="10607040" y="2280412"/>
                  <a:pt x="10497820" y="2389632"/>
                  <a:pt x="10363200" y="2389632"/>
                </a:cubicBezTo>
                <a:lnTo>
                  <a:pt x="243840" y="2389632"/>
                </a:lnTo>
                <a:cubicBezTo>
                  <a:pt x="109220" y="2389632"/>
                  <a:pt x="0" y="2280412"/>
                  <a:pt x="0" y="2145792"/>
                </a:cubicBezTo>
                <a:close/>
              </a:path>
            </a:pathLst>
          </a:custGeom>
          <a:solidFill>
            <a:srgbClr val="2B32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h46e8777ff8f3b337_0_3"/>
          <p:cNvSpPr/>
          <p:nvPr/>
        </p:nvSpPr>
        <p:spPr>
          <a:xfrm>
            <a:off x="2044640" y="6878459"/>
            <a:ext cx="914400" cy="914400"/>
          </a:xfrm>
          <a:custGeom>
            <a:rect b="b" l="l" r="r" t="t"/>
            <a:pathLst>
              <a:path extrusionOk="0"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F25C0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ecommendations 3 icon" id="507" name="Google Shape;507;h46e8777ff8f3b337_0_3"/>
          <p:cNvSpPr/>
          <p:nvPr/>
        </p:nvSpPr>
        <p:spPr>
          <a:xfrm>
            <a:off x="2273240" y="7107059"/>
            <a:ext cx="457200" cy="457200"/>
          </a:xfrm>
          <a:custGeom>
            <a:rect b="b" l="l" r="r" t="t"/>
            <a:pathLst>
              <a:path extrusionOk="0" h="609600" w="609600">
                <a:moveTo>
                  <a:pt x="0" y="0"/>
                </a:moveTo>
                <a:lnTo>
                  <a:pt x="609600" y="0"/>
                </a:lnTo>
                <a:lnTo>
                  <a:pt x="609600" y="609600"/>
                </a:lnTo>
                <a:lnTo>
                  <a:pt x="0" y="6096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08" name="Google Shape;508;h46e8777ff8f3b337_0_3"/>
          <p:cNvGrpSpPr/>
          <p:nvPr/>
        </p:nvGrpSpPr>
        <p:grpSpPr>
          <a:xfrm>
            <a:off x="3233340" y="6389550"/>
            <a:ext cx="12483225" cy="1842300"/>
            <a:chOff x="-27" y="-66663"/>
            <a:chExt cx="16644300" cy="2456400"/>
          </a:xfrm>
        </p:grpSpPr>
        <p:sp>
          <p:nvSpPr>
            <p:cNvPr id="509" name="Google Shape;509;h46e8777ff8f3b337_0_3"/>
            <p:cNvSpPr/>
            <p:nvPr/>
          </p:nvSpPr>
          <p:spPr>
            <a:xfrm>
              <a:off x="0" y="0"/>
              <a:ext cx="8290560" cy="2389632"/>
            </a:xfrm>
            <a:custGeom>
              <a:rect b="b" l="l" r="r" t="t"/>
              <a:pathLst>
                <a:path extrusionOk="0" h="2389632" w="8290560">
                  <a:moveTo>
                    <a:pt x="0" y="0"/>
                  </a:moveTo>
                  <a:lnTo>
                    <a:pt x="8290560" y="0"/>
                  </a:lnTo>
                  <a:lnTo>
                    <a:pt x="8290560" y="2389632"/>
                  </a:lnTo>
                  <a:lnTo>
                    <a:pt x="0" y="2389632"/>
                  </a:lnTo>
                  <a:close/>
                </a:path>
              </a:pathLst>
            </a:custGeom>
            <a:blipFill rotWithShape="1">
              <a:blip r:embed="rId3">
                <a:alphaModFix amt="0"/>
              </a:blip>
              <a:stretch>
                <a:fillRect b="-17600" l="0" r="0" t="-17600"/>
              </a:stretch>
            </a:blip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h46e8777ff8f3b337_0_3"/>
            <p:cNvSpPr txBox="1"/>
            <p:nvPr/>
          </p:nvSpPr>
          <p:spPr>
            <a:xfrm>
              <a:off x="-27" y="-66663"/>
              <a:ext cx="16644300" cy="24564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Calibri"/>
                  <a:ea typeface="Calibri"/>
                  <a:cs typeface="Calibri"/>
                  <a:sym typeface="Calibri"/>
                </a:rPr>
                <a:t>Link Collab</a:t>
              </a:r>
              <a:endParaRPr/>
            </a:p>
            <a:p>
              <a:pPr indent="0" lvl="0" marL="0" marR="0" rtl="0" algn="ctr">
                <a:lnSpc>
                  <a:spcPct val="120007"/>
                </a:lnSpc>
                <a:spcBef>
                  <a:spcPts val="0"/>
                </a:spcBef>
                <a:spcAft>
                  <a:spcPts val="0"/>
                </a:spcAft>
                <a:buNone/>
              </a:pPr>
              <a:r>
                <a:rPr lang="en-US" sz="2799" u="sng">
                  <a:solidFill>
                    <a:schemeClr val="lt1"/>
                  </a:solidFill>
                  <a:latin typeface="Calibri"/>
                  <a:ea typeface="Calibri"/>
                  <a:cs typeface="Calibri"/>
                  <a:sym typeface="Calibri"/>
                  <a:hlinkClick r:id="rId7">
                    <a:extLst>
                      <a:ext uri="{A12FA001-AC4F-418D-AE19-62706E023703}">
                        <ahyp:hlinkClr val="tx"/>
                      </a:ext>
                    </a:extLst>
                  </a:hlinkClick>
                </a:rPr>
                <a:t>Food Delivery Time Prediction</a:t>
              </a:r>
              <a:endParaRPr>
                <a:solidFill>
                  <a:schemeClr val="lt1"/>
                </a:solidFil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h46e8777ff8f3b337_0_61"/>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1F24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h46e8777ff8f3b337_0_61"/>
          <p:cNvSpPr txBox="1"/>
          <p:nvPr/>
        </p:nvSpPr>
        <p:spPr>
          <a:xfrm>
            <a:off x="914400" y="4962221"/>
            <a:ext cx="16459200" cy="1287300"/>
          </a:xfrm>
          <a:prstGeom prst="rect">
            <a:avLst/>
          </a:prstGeom>
          <a:noFill/>
          <a:ln>
            <a:noFill/>
          </a:ln>
        </p:spPr>
        <p:txBody>
          <a:bodyPr anchorCtr="0" anchor="ctr" bIns="0" lIns="0" spcFirstLastPara="1" rIns="0" wrap="square" tIns="0">
            <a:noAutofit/>
          </a:bodyPr>
          <a:lstStyle/>
          <a:p>
            <a:pPr indent="0" lvl="0" marL="0" marR="0" rtl="0" algn="ctr">
              <a:lnSpc>
                <a:spcPct val="120003"/>
              </a:lnSpc>
              <a:spcBef>
                <a:spcPts val="0"/>
              </a:spcBef>
              <a:spcAft>
                <a:spcPts val="0"/>
              </a:spcAft>
              <a:buNone/>
            </a:pPr>
            <a:r>
              <a:rPr b="1" lang="en-US" sz="6399">
                <a:solidFill>
                  <a:srgbClr val="FFFFFF"/>
                </a:solidFill>
                <a:latin typeface="Cambria"/>
                <a:ea typeface="Cambria"/>
                <a:cs typeface="Cambria"/>
                <a:sym typeface="Cambria"/>
              </a:rPr>
              <a:t>THANK YOU</a:t>
            </a:r>
            <a:endParaRPr/>
          </a:p>
        </p:txBody>
      </p:sp>
      <p:sp>
        <p:nvSpPr>
          <p:cNvPr id="517" name="Google Shape;517;h46e8777ff8f3b337_0_61"/>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Food_Delivery_Time_Prediction</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